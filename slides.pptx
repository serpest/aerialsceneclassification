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156573-D062-4AEE-A590-9B9099672B0A}">
  <a:tblStyle styleId="{CF156573-D062-4AEE-A590-9B9099672B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42e3e7cd_1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742e3e7c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223a9c8e4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223a9c8e4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223a9c8e4_0_1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223a9c8e4_0_1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1b30fba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1b30fba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1b30fba7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1b30fba7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223a9c8e4_0_10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223a9c8e4_0_1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223a9c8e4_0_1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223a9c8e4_0_1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223a9c8e4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223a9c8e4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85e732ac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85e732ac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223a9c8e4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223a9c8e4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188ad44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188ad44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numpy.org/doc/2.1/reference/generated/numpy.save.html" TargetMode="External"/><Relationship Id="rId4" Type="http://schemas.openxmlformats.org/officeDocument/2006/relationships/hyperlink" Target="https://numpy.org/devdocs/reference/generated/numpy.linalg.norm.html" TargetMode="External"/><Relationship Id="rId5" Type="http://schemas.openxmlformats.org/officeDocument/2006/relationships/hyperlink" Target="https://scikit-learn.org/stable/modules/generated/sklearn.model_selection.StratifiedKFold.html" TargetMode="External"/><Relationship Id="rId6" Type="http://schemas.openxmlformats.org/officeDocument/2006/relationships/hyperlink" Target="https://scikit-learn.org/stable/modules/generated/sklearn.metrics.confusion_matrix.html" TargetMode="External"/><Relationship Id="rId7" Type="http://schemas.openxmlformats.org/officeDocument/2006/relationships/hyperlink" Target="https://gemini.google.com/share/c812b840e87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Visione Artificiale</a:t>
            </a:r>
            <a:endParaRPr sz="6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2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510450" y="4370773"/>
            <a:ext cx="81231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Salvo Portuesi</a:t>
            </a:r>
            <a:r>
              <a:rPr lang="en" sz="1800"/>
              <a:t> | salvo.portuesi@community.unipa.it</a:t>
            </a:r>
            <a:endParaRPr sz="1800"/>
          </a:p>
        </p:txBody>
      </p:sp>
      <p:cxnSp>
        <p:nvCxnSpPr>
          <p:cNvPr id="57" name="Google Shape;57;p13"/>
          <p:cNvCxnSpPr/>
          <p:nvPr/>
        </p:nvCxnSpPr>
        <p:spPr>
          <a:xfrm>
            <a:off x="615150" y="2998025"/>
            <a:ext cx="500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Architettura del sistema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 sistema è composto da tre moduli principali</a:t>
            </a:r>
            <a:r>
              <a:rPr lang="en"/>
              <a:t>, i quali si dividono le responsabilità nel modo seguente:</a:t>
            </a:r>
            <a:endParaRPr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Preprocessing delle immagini, estrazione dei descrittori locali, calcolo degli istogrammi di visual words e classificazione di un’immagine fissato un modello pre-addestrato e un vocabolario di visual words;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Calcolo e salvataggio dei possibili vocabolari di visual words attraverso il clustering al variare degli iper-parametri;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Addestramento, valutazione e salvataggio dei modelli di classificazione al variare degli iper-parametri.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Gli ultimi due moduli menzionati sono necessari solo durante lo sviluppo e l’addestramento.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Modulo A: componenti di base e inferenza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Estrattore di descrittori locali:</a:t>
            </a:r>
            <a:endParaRPr/>
          </a:p>
          <a:p>
            <a:pPr indent="-30861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un’immagine, viene restituita una matrice in cui ogni riga rappresenta un descrittore di un keypoint.</a:t>
            </a:r>
            <a:endParaRPr/>
          </a:p>
          <a:p>
            <a:pPr indent="-308610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Ha come parametri un metodo per ottenere i descrittori (SIFT o ORB), un’eventuale normalizzazione per i descrittori (L1 o L2) e un numero di descrittori target (utile per limitare le risorse necessarie nello sviluppo).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Costruttore di istogrammi di visual word:</a:t>
            </a:r>
            <a:endParaRPr b="1"/>
          </a:p>
          <a:p>
            <a:pPr indent="-30861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un’immagine, essa viene convertita in scala di grigi e vengono estratti i suoi descrittori locali. Ogni descrittore viene assegnato al centroide del vocabolario di visual word più vicino e ne viene calcolato l'istogramma.</a:t>
            </a:r>
            <a:endParaRPr/>
          </a:p>
          <a:p>
            <a:pPr indent="-308610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Ha come parametri l’estrattore dei descrittori locali, il vocabolario di visual word e un’eventuale normalizzazione per gli istogrammi (L1 o L2).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Inferenza:</a:t>
            </a:r>
            <a:endParaRPr b="1"/>
          </a:p>
          <a:p>
            <a:pPr indent="-30861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Dato il path di un’immagine, quest’ultima viene caricata e ne viene calcolato un istogramma rappresentativo fissato un vocabolario di visual words. Viene poi eseguita la classificazione fissato un modello pre-addestrato.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Vengono calcolati 18 </a:t>
            </a:r>
            <a:r>
              <a:rPr lang="en"/>
              <a:t>vocabolari di visual words al variare dei parametri dell’estrattore di descrittori locali e del numero di cluster sfruttando il parallelismo a livello di processo per migliorare le prestazioni.</a:t>
            </a: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Le immagini vengono caricate dal dataset AID senza considerare le label associate.</a:t>
            </a: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Le visual words vengono individuate applicando il clustering ai descrittori individuati per ogni immagine pre-processata.</a:t>
            </a: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 particolare, viene utilizzata la variante mini-batch di K-means, la quale permette di individuare i centroidi senza avere a disposizione tutti i descrittori contemporaneamente. Si è scelto di utilizzare una singola iterazione dei batch a causa dell’alta disponibilità di descrittori (&gt; 10,000,000) e si è verificato che, anche se il numero di iterazioni viene posto a tre, l'accuratezza del classificatore migliore non subisce miglioramenti significativi.</a:t>
            </a: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Il calcolo ha richiesto circa 40 minuti sul processore AMD Ryzen 7 4800HS producendo circa 1.5 MB di dati.</a:t>
            </a:r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Modulo B: calcolo dei vocabolari di visual words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Modulo C: addestramento dei classificatori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Vengono calcolati 270 modelli di classificatori al variare dei vocabolari di visual words, dei tipi di classificatore e dell’eventuale normalizzazione per gli istogrammi.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Le immagini vengono caricate dal dataset UC Merced Land Use.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Nella valutazione dei modelli viene utilizzato un 3-fold cross-validation protocol, ma viene eseguito un ultimo addestramento sull’intero dataset per calcolare il modello finale da salvare.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Poiché in un generico dataset il numero di immagini per classe potrebbe avere una certa variabilità, i modelli di classificazione usano dei pesi appropriati per ogni classe. </a:t>
            </a:r>
            <a:r>
              <a:rPr lang="en"/>
              <a:t>In realtà, il dataset usato non è caratterizzato da tale variabilità, pertanto i pesi sono superflui.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Il calcolo ha richiesto circa 5 minuti sul processore AMD Ryzen 7 4800HS producendo circa 2.3 GB di dati.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Problemi riscontrati durante lo sviluppo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</a:t>
            </a:r>
            <a:r>
              <a:rPr lang="en"/>
              <a:t>n alcune immagini del dataset AID</a:t>
            </a:r>
            <a:r>
              <a:rPr lang="en"/>
              <a:t> non viene trovato nessun descrittore, quindi si è scelto di ignorare tali casi nel calcolo dei vocabolari. Inoltre, si è gestito tale caso nell’estrattore di descrittori locali e nel costruttore di istogrammi di visual word al fine di non applicare la normalizzazione sul vettore nullo.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Per garantire l’indipendenza del </a:t>
            </a:r>
            <a:r>
              <a:rPr i="1" lang="en"/>
              <a:t>Modulo A</a:t>
            </a:r>
            <a:r>
              <a:rPr lang="en"/>
              <a:t> usato per l’inferenza, è stato necessario risolvere un problema di importazione circolare e scegliere accuratamente la collocazione di ogni funzione e classe.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Nel salvataggio dei classificatori e dei vocabolari la directory specifica potrebbe non esistere, pertanto è necessario crearla.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Nel calcolo delle metriche di valutazione dei classificatori potrebbero comparire dei denominatori nulli, quindi si è specificato un valore sostitutivo pari a zero.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Risultati ottenuti in cross-validation e modello selezionato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06675"/>
            <a:ext cx="8520600" cy="7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La seguente tabella descrive i risultati ottenuti da ogni tipologia di classificatore nella configurazione di iper-parametri con accuratezza più alta. Le metriche sono riportate come media sui tre fold.</a:t>
            </a:r>
            <a:endParaRPr/>
          </a:p>
        </p:txBody>
      </p:sp>
      <p:graphicFrame>
        <p:nvGraphicFramePr>
          <p:cNvPr id="94" name="Google Shape;94;p19"/>
          <p:cNvGraphicFramePr/>
          <p:nvPr/>
        </p:nvGraphicFramePr>
        <p:xfrm>
          <a:off x="311775" y="194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{CF156573-D062-4AEE-A590-9B9099672B0A}</a:tableStyleId>
              </a:tblPr>
              <a:tblGrid>
                <a:gridCol w="946725"/>
                <a:gridCol w="946725"/>
                <a:gridCol w="946725"/>
                <a:gridCol w="946725"/>
                <a:gridCol w="946725"/>
                <a:gridCol w="946725"/>
                <a:gridCol w="946725"/>
                <a:gridCol w="946725"/>
                <a:gridCol w="946725"/>
              </a:tblGrid>
              <a:tr h="653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Classifier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BoW Method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BoW Norm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Bow Clusters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Hist Norm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Accuracy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Precision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Recall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F1-score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  <a:tr h="424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SVM RBF</a:t>
                      </a:r>
                      <a:endParaRPr sz="1100"/>
                    </a:p>
                  </a:txBody>
                  <a:tcPr marT="91425" marB="91425" marR="91425" marL="914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SIFT</a:t>
                      </a:r>
                      <a:endParaRPr sz="1100"/>
                    </a:p>
                  </a:txBody>
                  <a:tcPr marT="91425" marB="91425" marR="91425" marL="914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None</a:t>
                      </a:r>
                      <a:endParaRPr sz="1100"/>
                    </a:p>
                  </a:txBody>
                  <a:tcPr marT="91425" marB="91425" marR="91425" marL="914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500</a:t>
                      </a:r>
                      <a:endParaRPr sz="1100"/>
                    </a:p>
                  </a:txBody>
                  <a:tcPr marT="91425" marB="91425" marR="91425" marL="914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L2</a:t>
                      </a:r>
                      <a:endParaRPr sz="1100"/>
                    </a:p>
                  </a:txBody>
                  <a:tcPr marT="91425" marB="91425" marR="91425" marL="914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0.7223</a:t>
                      </a:r>
                      <a:endParaRPr sz="1100"/>
                    </a:p>
                  </a:txBody>
                  <a:tcPr marT="91425" marB="91425" marR="91425" marL="914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0.7270</a:t>
                      </a:r>
                      <a:endParaRPr sz="1100"/>
                    </a:p>
                  </a:txBody>
                  <a:tcPr marT="91425" marB="91425" marR="91425" marL="914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0.7224</a:t>
                      </a:r>
                      <a:endParaRPr sz="1100"/>
                    </a:p>
                  </a:txBody>
                  <a:tcPr marT="91425" marB="91425" marR="91425" marL="914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0.7209</a:t>
                      </a:r>
                      <a:endParaRPr sz="1100"/>
                    </a:p>
                  </a:txBody>
                  <a:tcPr marT="91425" marB="91425" marR="91425" marL="91425" anchor="ctr">
                    <a:solidFill>
                      <a:srgbClr val="FFFF00"/>
                    </a:solidFill>
                  </a:tcPr>
                </a:tc>
              </a:tr>
              <a:tr h="424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SVM Linear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SIFT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None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500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L2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0.7142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0.7170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0.7143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0.7113</a:t>
                      </a:r>
                      <a:endParaRPr sz="1100"/>
                    </a:p>
                  </a:txBody>
                  <a:tcPr marT="91425" marB="91425" marR="91425" marL="91425" anchor="ctr"/>
                </a:tc>
              </a:tr>
              <a:tr h="424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Logistic Regression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SIFT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L1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500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L2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0.6946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0.6967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0.6948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0.6866</a:t>
                      </a:r>
                      <a:endParaRPr sz="1100"/>
                    </a:p>
                  </a:txBody>
                  <a:tcPr marT="91425" marB="91425" marR="91425" marL="91425" anchor="ctr"/>
                </a:tc>
              </a:tr>
              <a:tr h="40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Random Forest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SIFT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L2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100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None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0.6526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0.6542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0.6530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0.6476</a:t>
                      </a:r>
                      <a:endParaRPr sz="1100"/>
                    </a:p>
                  </a:txBody>
                  <a:tcPr marT="91425" marB="91425" marR="91425" marL="91425" anchor="ctr"/>
                </a:tc>
              </a:tr>
              <a:tr h="40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k-NN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SIFT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L2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None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0.6264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0.6373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0.6267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0.6203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Risultati ottenuti in cross-validation e modello selezionato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5121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Dalle metriche ottenute per ogni possibile configurazione, si è visto che l</a:t>
            </a:r>
            <a:r>
              <a:rPr lang="en"/>
              <a:t>'accuratezza del modello rimane stabile al variare del parametro </a:t>
            </a:r>
            <a:r>
              <a:rPr i="1" lang="en"/>
              <a:t>BoW Norm</a:t>
            </a:r>
            <a:r>
              <a:rPr lang="en"/>
              <a:t>, pertanto si potrebbe rimuovere la normalizzazione dei descrittori per ciascun tipo di classificatore al fine di risparmiare risorse computazionali nell’inferenza.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Di fianco si trova la matrice di confusione </a:t>
            </a:r>
            <a:r>
              <a:rPr lang="en"/>
              <a:t>relativa al modello migliore (SVM con kernel RBF), la quale è stata</a:t>
            </a:r>
            <a:r>
              <a:rPr lang="en"/>
              <a:t> ottenuta calcolando la media delle singole matrici nei tre fold. Per motivi grafici si è scelto di non rappresentare le label categoriche.</a:t>
            </a:r>
            <a:endParaRPr/>
          </a:p>
        </p:txBody>
      </p:sp>
      <p:pic>
        <p:nvPicPr>
          <p:cNvPr id="101" name="Google Shape;101;p20" title="Figure_1.png"/>
          <p:cNvPicPr preferRelativeResize="0"/>
          <p:nvPr/>
        </p:nvPicPr>
        <p:blipFill rotWithShape="1">
          <a:blip r:embed="rId3">
            <a:alphaModFix/>
          </a:blip>
          <a:srcRect b="4305" l="5774" r="14136" t="10776"/>
          <a:stretch/>
        </p:blipFill>
        <p:spPr>
          <a:xfrm>
            <a:off x="5432700" y="1434925"/>
            <a:ext cx="3399600" cy="285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Risultati ottenuti in cross-validation e modello selezionato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5121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 è visto che in molti casi le metriche calcolate (Accuracy, Macro Precision, Macro Recall e Macro F1-score) hanno tutte valori molti simili se valutate per una singola configurazione.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Analiticamente si dimostra che le metriche sono esattamente uguali quando le classi sono perfettamente bilanciate e la matrice di confusione è simmetrica (FP</a:t>
            </a:r>
            <a:r>
              <a:rPr baseline="-25000" lang="en"/>
              <a:t>i</a:t>
            </a:r>
            <a:r>
              <a:rPr lang="en"/>
              <a:t> = FN</a:t>
            </a:r>
            <a:r>
              <a:rPr baseline="-25000" lang="en"/>
              <a:t>i</a:t>
            </a:r>
            <a:r>
              <a:rPr lang="en"/>
              <a:t>).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Pertanto, nel caso in esame la similitudine è coerente perché le classi sono bilanciate e in molte configurazioni la matrice di confusione è pressoché simmetrica.</a:t>
            </a:r>
            <a:endParaRPr/>
          </a:p>
        </p:txBody>
      </p:sp>
      <p:pic>
        <p:nvPicPr>
          <p:cNvPr id="108" name="Google Shape;108;p21" title="Figure_1.png"/>
          <p:cNvPicPr preferRelativeResize="0"/>
          <p:nvPr/>
        </p:nvPicPr>
        <p:blipFill rotWithShape="1">
          <a:blip r:embed="rId3">
            <a:alphaModFix/>
          </a:blip>
          <a:srcRect b="4305" l="5774" r="14136" t="10776"/>
          <a:stretch/>
        </p:blipFill>
        <p:spPr>
          <a:xfrm>
            <a:off x="5432700" y="1434925"/>
            <a:ext cx="3399600" cy="285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Il calcolo dei vocabolari di visual words avviene in modo indipendente tra le tre possibili configurazioni di normalizzazione dei descrittori (L1, L2 e assenza di normalizzazione), ma ciò è uno spreco di risorse perché, fissato un metodo (SIFT o ORB), i descrittori iniziali sono gli stessi. Vale un ragionamento analogo per la normalizzazione degli istogrammi. Si noti che implementare tale miglioria è complicato a causa della parallelizzazione e della </a:t>
            </a:r>
            <a:r>
              <a:rPr lang="en"/>
              <a:t>suddivisione</a:t>
            </a:r>
            <a:r>
              <a:rPr lang="en"/>
              <a:t> in batch.</a:t>
            </a: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 modelli di classificazione utilizzano gli iper-parametri di default e, talvolta, alcuni di questi non convergono. Pertanto, si potrebbe selezionare un insieme di configurazioni </a:t>
            </a:r>
            <a:r>
              <a:rPr i="1" lang="en"/>
              <a:t>più promettenti</a:t>
            </a:r>
            <a:r>
              <a:rPr lang="en"/>
              <a:t> su cui ottimizzare la scelta degli </a:t>
            </a:r>
            <a:r>
              <a:rPr lang="en"/>
              <a:t>iper-parametri individualmente.</a:t>
            </a: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 descrittori SIFT e ORB possono essere estratti solo da un singolo canale dell’immagine, pertanto l’informazione di colore non viene considerata dal classificatore. È quindi possibile usare una concatenazioni di istogrammi calcolati sui singoli canali di uno spazio colore.</a:t>
            </a: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Invece di usare un singolo classificatore, si potrebbe costruire un’ensemble di classificatori combinando più modelli per ottenere una previsione più accurata.</a:t>
            </a:r>
            <a:endParaRPr/>
          </a:p>
        </p:txBody>
      </p:sp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Possibili miglioramenti del sistema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Sitografia e tool utilizzati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Documentazione NumPy: </a:t>
            </a:r>
            <a:r>
              <a:rPr lang="en" u="sng">
                <a:solidFill>
                  <a:schemeClr val="hlink"/>
                </a:solidFill>
                <a:hlinkClick r:id="rId3"/>
              </a:rPr>
              <a:t>save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4"/>
              </a:rPr>
              <a:t>norm</a:t>
            </a:r>
            <a:r>
              <a:rPr lang="en"/>
              <a:t>, eccetera.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Documentazione Scikit-learn: </a:t>
            </a:r>
            <a:r>
              <a:rPr lang="en" u="sng">
                <a:solidFill>
                  <a:schemeClr val="hlink"/>
                </a:solidFill>
                <a:hlinkClick r:id="rId5"/>
              </a:rPr>
              <a:t>StratifiedKFold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6"/>
              </a:rPr>
              <a:t>confusion_matrix</a:t>
            </a:r>
            <a:r>
              <a:rPr lang="en"/>
              <a:t>, eccetera.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Gemini: </a:t>
            </a:r>
            <a:r>
              <a:rPr lang="en" u="sng">
                <a:solidFill>
                  <a:schemeClr val="hlink"/>
                </a:solidFill>
                <a:hlinkClick r:id="rId7"/>
              </a:rPr>
              <a:t>Metric Equality Conditions Explained</a:t>
            </a:r>
            <a:r>
              <a:rPr lang="en"/>
              <a:t>.</a:t>
            </a:r>
            <a:endParaRPr i="1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GPT-5.2-Codex:</a:t>
            </a:r>
            <a:r>
              <a:rPr lang="en"/>
              <a:t> </a:t>
            </a:r>
            <a:r>
              <a:rPr lang="en"/>
              <a:t>per l’implementazione della funzione </a:t>
            </a:r>
            <a:r>
              <a:rPr i="1" lang="en"/>
              <a:t>parse_args()</a:t>
            </a:r>
            <a:r>
              <a:rPr lang="en"/>
              <a:t>; per la scrittura del file </a:t>
            </a:r>
            <a:r>
              <a:rPr i="1" lang="en"/>
              <a:t>README.md</a:t>
            </a:r>
            <a:r>
              <a:rPr lang="en"/>
              <a:t>; per individuare un metodo di salvataggio dei modelli di classificatore e </a:t>
            </a:r>
            <a:r>
              <a:rPr lang="en"/>
              <a:t>per l’implementazione iniziale del parallelismo a livello di processo.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Autocompletamento del codice in Visual Studio Code.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