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8DF622-62CD-4A15-923E-5C4DD602BB09}">
  <a:tblStyle styleId="{BA8DF622-62CD-4A15-923E-5C4DD602BB0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223a9c8e4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223a9c8e4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5a958744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5a958744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223a9c8e4_0_1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223a9c8e4_0_1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5c06d4ad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5c06d4ad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a958744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5a958744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a958744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a958744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5a958744d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5a958744d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223a9c8e4_0_1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223a9c8e4_0_1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5a958744d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5a958744d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c06d4ad7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5c06d4ad7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223a9c8e4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223a9c8e4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223a9c8e4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223a9c8e4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958744d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5a958744d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24bebcb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24bebcb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jpg"/><Relationship Id="rId6"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tensorflow.org/api_docs/python/tf/data/Dataset#from_generator" TargetMode="External"/><Relationship Id="rId4" Type="http://schemas.openxmlformats.org/officeDocument/2006/relationships/hyperlink" Target="https://keras.io/api/layers/pooling_layers/max_pooling2d/" TargetMode="External"/><Relationship Id="rId10" Type="http://schemas.openxmlformats.org/officeDocument/2006/relationships/hyperlink" Target="https://medium.com/@piyushkashyap045/understanding-dropout-in-deep-learning-a-guide-to-reducing-overfitting-26cbb68d5575" TargetMode="External"/><Relationship Id="rId9" Type="http://schemas.openxmlformats.org/officeDocument/2006/relationships/hyperlink" Target="https://medium.com/data-science/keras-callbacks-and-how-to-save-your-model-from-overtraining-244fc1de8608" TargetMode="External"/><Relationship Id="rId5" Type="http://schemas.openxmlformats.org/officeDocument/2006/relationships/hyperlink" Target="https://keras.io/api/callbacks/model_checkpoint/" TargetMode="External"/><Relationship Id="rId6" Type="http://schemas.openxmlformats.org/officeDocument/2006/relationships/hyperlink" Target="https://gemini.google.com/share/557b7fa3bad8" TargetMode="External"/><Relationship Id="rId7" Type="http://schemas.openxmlformats.org/officeDocument/2006/relationships/hyperlink" Target="https://chatgpt.com/share/6a1b0966-02f8-83eb-a191-711476ce93aa" TargetMode="External"/><Relationship Id="rId8" Type="http://schemas.openxmlformats.org/officeDocument/2006/relationships/hyperlink" Target="http://readme.m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6000"/>
              <a:t>Visione Artificiale</a:t>
            </a:r>
            <a:endParaRPr sz="60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Assignment 3</a:t>
            </a:r>
            <a:endParaRPr/>
          </a:p>
        </p:txBody>
      </p:sp>
      <p:sp>
        <p:nvSpPr>
          <p:cNvPr id="56" name="Google Shape;56;p13"/>
          <p:cNvSpPr txBox="1"/>
          <p:nvPr>
            <p:ph idx="1" type="subTitle"/>
          </p:nvPr>
        </p:nvSpPr>
        <p:spPr>
          <a:xfrm>
            <a:off x="510450" y="4370773"/>
            <a:ext cx="8123100" cy="503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t>Salvo Portuesi</a:t>
            </a:r>
            <a:r>
              <a:rPr lang="en" sz="1800"/>
              <a:t> | salvo.portuesi@community.unipa.it</a:t>
            </a:r>
            <a:endParaRPr sz="1800"/>
          </a:p>
        </p:txBody>
      </p:sp>
      <p:cxnSp>
        <p:nvCxnSpPr>
          <p:cNvPr id="57" name="Google Shape;57;p13"/>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Architettura del sistema</a:t>
            </a:r>
            <a:endParaRPr/>
          </a:p>
          <a:p>
            <a:pPr indent="0" lvl="0" marL="0" rtl="0" algn="l">
              <a:spcBef>
                <a:spcPts val="0"/>
              </a:spcBef>
              <a:spcAft>
                <a:spcPts val="0"/>
              </a:spcAft>
              <a:buNone/>
            </a:pPr>
            <a:r>
              <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0"/>
              </a:spcBef>
              <a:spcAft>
                <a:spcPts val="0"/>
              </a:spcAft>
              <a:buNone/>
            </a:pPr>
            <a:r>
              <a:rPr lang="en"/>
              <a:t>Il sistema è composto da quattro moduli principali, i quali si dividono le responsabilità nel modo seguente:</a:t>
            </a:r>
            <a:endParaRPr/>
          </a:p>
          <a:p>
            <a:pPr indent="-325755" lvl="0" marL="457200" rtl="0" algn="just">
              <a:spcBef>
                <a:spcPts val="1200"/>
              </a:spcBef>
              <a:spcAft>
                <a:spcPts val="0"/>
              </a:spcAft>
              <a:buSzPct val="100000"/>
              <a:buAutoNum type="alphaUcPeriod"/>
            </a:pPr>
            <a:r>
              <a:rPr lang="en"/>
              <a:t>Definizione dell’architettura della rete neurale e del blocco residuale, p</a:t>
            </a:r>
            <a:r>
              <a:rPr lang="en"/>
              <a:t>reprocessing delle immagini e classificazione di un’immagine fissati i pesi di un modello;</a:t>
            </a:r>
            <a:endParaRPr/>
          </a:p>
          <a:p>
            <a:pPr indent="-325755" lvl="0" marL="457200" rtl="0" algn="just">
              <a:spcBef>
                <a:spcPts val="0"/>
              </a:spcBef>
              <a:spcAft>
                <a:spcPts val="0"/>
              </a:spcAft>
              <a:buSzPct val="100000"/>
              <a:buAutoNum type="alphaUcPeriod"/>
            </a:pPr>
            <a:r>
              <a:rPr lang="en"/>
              <a:t>Gestione del pre-training della rete convoluzionale e costruzione dei dataset Keras di training/validation a partire dal dataset AID;</a:t>
            </a:r>
            <a:endParaRPr/>
          </a:p>
          <a:p>
            <a:pPr indent="-325755" lvl="0" marL="457200" rtl="0" algn="just">
              <a:spcBef>
                <a:spcPts val="0"/>
              </a:spcBef>
              <a:spcAft>
                <a:spcPts val="0"/>
              </a:spcAft>
              <a:buSzPct val="100000"/>
              <a:buAutoNum type="alphaUcPeriod"/>
            </a:pPr>
            <a:r>
              <a:rPr lang="en"/>
              <a:t>Gestione del fine-tuning e del training da zero della rete convoluzionale, costruzione dei dataset Keras di training/validation/testing a partire dal dataset UC Merced Land Use, confronto tra le metriche di performance dei modelli e scelta della configurazione migliore;</a:t>
            </a:r>
            <a:endParaRPr/>
          </a:p>
          <a:p>
            <a:pPr indent="-325755" lvl="0" marL="457200" rtl="0" algn="just">
              <a:spcBef>
                <a:spcPts val="0"/>
              </a:spcBef>
              <a:spcAft>
                <a:spcPts val="0"/>
              </a:spcAft>
              <a:buSzPct val="100000"/>
              <a:buAutoNum type="alphaUcPeriod"/>
            </a:pPr>
            <a:r>
              <a:rPr lang="en"/>
              <a:t>Data augmentation, lettura ottimizzata dei dataset con generatori Python e funzioni di utilità.</a:t>
            </a:r>
            <a:endParaRPr/>
          </a:p>
          <a:p>
            <a:pPr indent="0" lvl="0" marL="0" rtl="0" algn="just">
              <a:spcBef>
                <a:spcPts val="1200"/>
              </a:spcBef>
              <a:spcAft>
                <a:spcPts val="1200"/>
              </a:spcAft>
              <a:buClr>
                <a:schemeClr val="dk1"/>
              </a:buClr>
              <a:buSzPct val="61111"/>
              <a:buFont typeface="Arial"/>
              <a:buNone/>
            </a:pPr>
            <a:r>
              <a:rPr lang="en"/>
              <a:t>Gli ultimi tre moduli menzionati sono necessari solo durante lo sviluppo e l’addestramento.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Modulo A: </a:t>
            </a:r>
            <a:r>
              <a:rPr lang="en"/>
              <a:t>inferenza e rete convoluzionale residuale</a:t>
            </a:r>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just">
              <a:spcBef>
                <a:spcPts val="0"/>
              </a:spcBef>
              <a:spcAft>
                <a:spcPts val="0"/>
              </a:spcAft>
              <a:buSzPct val="100000"/>
              <a:buChar char="●"/>
            </a:pPr>
            <a:r>
              <a:rPr lang="en"/>
              <a:t>In fase di inferenza vengono caricati i pesi di un modello già addestrato e viene restituita la classe con probabilità stimata più elevata.</a:t>
            </a:r>
            <a:endParaRPr/>
          </a:p>
          <a:p>
            <a:pPr indent="-334328" lvl="0" marL="457200" rtl="0" algn="just">
              <a:spcBef>
                <a:spcPts val="0"/>
              </a:spcBef>
              <a:spcAft>
                <a:spcPts val="0"/>
              </a:spcAft>
              <a:buSzPct val="100000"/>
              <a:buChar char="●"/>
            </a:pPr>
            <a:r>
              <a:rPr lang="en"/>
              <a:t>Le immagini vengono pre-processate applicando il ridimensionamento a 100x100 pixel e la normalizzazione ImageNet.</a:t>
            </a:r>
            <a:endParaRPr/>
          </a:p>
          <a:p>
            <a:pPr indent="-334328" lvl="0" marL="457200" rtl="0" algn="just">
              <a:spcBef>
                <a:spcPts val="0"/>
              </a:spcBef>
              <a:spcAft>
                <a:spcPts val="0"/>
              </a:spcAft>
              <a:buSzPct val="100000"/>
              <a:buChar char="●"/>
            </a:pPr>
            <a:r>
              <a:rPr lang="en"/>
              <a:t>La rete riprende i principi fondamentali di ResNet (skip connections, batch normalization, ReLU e aumento progressivo dei filtri) ma li declina in una versione leggera da circa 1M di parametri contro i 25M di ResNet-50.</a:t>
            </a:r>
            <a:endParaRPr/>
          </a:p>
          <a:p>
            <a:pPr indent="-334328" lvl="0" marL="457200" rtl="0" algn="just">
              <a:spcBef>
                <a:spcPts val="0"/>
              </a:spcBef>
              <a:spcAft>
                <a:spcPts val="0"/>
              </a:spcAft>
              <a:buSzPct val="100000"/>
              <a:buChar char="●"/>
            </a:pPr>
            <a:r>
              <a:rPr lang="en"/>
              <a:t>Vengono usati esattamente 999,445 parametri totali, di cui 300,501 appartengono al MLP. In pre-training i parametri totali sono invece 1,000,030 a causa del numero maggiore di classi presenti nel dataset AID. Pertanto, le due reti differiscono architetturalmente sono per l’ultimo layer.</a:t>
            </a:r>
            <a:endParaRPr/>
          </a:p>
          <a:p>
            <a:pPr indent="-334328" lvl="0" marL="457200" rtl="0" algn="just">
              <a:spcBef>
                <a:spcPts val="0"/>
              </a:spcBef>
              <a:spcAft>
                <a:spcPts val="0"/>
              </a:spcAft>
              <a:buSzPct val="100000"/>
              <a:buChar char="●"/>
            </a:pPr>
            <a:r>
              <a:rPr lang="en"/>
              <a:t>Il diagramma presente nella slide successiva mostra l’architettura della rete convoluzionale residuale usata.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title="ChatGPT Image May 30, 2026, 05_58_06 PM.png"/>
          <p:cNvPicPr preferRelativeResize="0"/>
          <p:nvPr/>
        </p:nvPicPr>
        <p:blipFill rotWithShape="1">
          <a:blip r:embed="rId3">
            <a:alphaModFix/>
          </a:blip>
          <a:srcRect b="40027" l="87820" r="2227" t="3597"/>
          <a:stretch/>
        </p:blipFill>
        <p:spPr>
          <a:xfrm>
            <a:off x="6980563" y="368575"/>
            <a:ext cx="772650" cy="2917450"/>
          </a:xfrm>
          <a:prstGeom prst="rect">
            <a:avLst/>
          </a:prstGeom>
          <a:noFill/>
          <a:ln>
            <a:noFill/>
          </a:ln>
        </p:spPr>
      </p:pic>
      <p:pic>
        <p:nvPicPr>
          <p:cNvPr id="75" name="Google Shape;75;p16" title="ChatGPT Image May 30, 2026, 05_58_06 PM.png"/>
          <p:cNvPicPr preferRelativeResize="0"/>
          <p:nvPr/>
        </p:nvPicPr>
        <p:blipFill rotWithShape="1">
          <a:blip r:embed="rId3">
            <a:alphaModFix/>
          </a:blip>
          <a:srcRect b="57512" l="0" r="27990" t="1289"/>
          <a:stretch/>
        </p:blipFill>
        <p:spPr>
          <a:xfrm>
            <a:off x="1390788" y="368587"/>
            <a:ext cx="5589777" cy="2131976"/>
          </a:xfrm>
          <a:prstGeom prst="rect">
            <a:avLst/>
          </a:prstGeom>
          <a:noFill/>
          <a:ln>
            <a:noFill/>
          </a:ln>
        </p:spPr>
      </p:pic>
      <p:pic>
        <p:nvPicPr>
          <p:cNvPr id="76" name="Google Shape;76;p16" title="ChatGPT Image May 30, 2026, 05_58_06 PM.png"/>
          <p:cNvPicPr preferRelativeResize="0"/>
          <p:nvPr/>
        </p:nvPicPr>
        <p:blipFill rotWithShape="1">
          <a:blip r:embed="rId3">
            <a:alphaModFix/>
          </a:blip>
          <a:srcRect b="12067" l="0" r="0" t="59843"/>
          <a:stretch/>
        </p:blipFill>
        <p:spPr>
          <a:xfrm>
            <a:off x="690650" y="3439200"/>
            <a:ext cx="7762698" cy="1453676"/>
          </a:xfrm>
          <a:prstGeom prst="rect">
            <a:avLst/>
          </a:prstGeom>
          <a:noFill/>
          <a:ln>
            <a:noFill/>
          </a:ln>
        </p:spPr>
      </p:pic>
      <p:pic>
        <p:nvPicPr>
          <p:cNvPr id="77" name="Google Shape;77;p16" title="ChatGPT Image May 30, 2026, 05_58_06 PM.png"/>
          <p:cNvPicPr preferRelativeResize="0"/>
          <p:nvPr/>
        </p:nvPicPr>
        <p:blipFill rotWithShape="1">
          <a:blip r:embed="rId3">
            <a:alphaModFix/>
          </a:blip>
          <a:srcRect b="31003" l="91742" r="3454" t="60749"/>
          <a:stretch/>
        </p:blipFill>
        <p:spPr>
          <a:xfrm>
            <a:off x="6607687" y="575075"/>
            <a:ext cx="372876" cy="4268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Modulo A: </a:t>
            </a:r>
            <a:r>
              <a:rPr lang="en"/>
              <a:t>inferenza e </a:t>
            </a:r>
            <a:r>
              <a:rPr lang="en"/>
              <a:t>rete convoluzionale residuale</a:t>
            </a:r>
            <a:endParaRPr/>
          </a:p>
          <a:p>
            <a:pPr indent="0" lvl="0" marL="0" rtl="0" algn="l">
              <a:spcBef>
                <a:spcPts val="0"/>
              </a:spcBef>
              <a:spcAft>
                <a:spcPts val="0"/>
              </a:spcAft>
              <a:buNone/>
            </a:pPr>
            <a:r>
              <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n"/>
              <a:t>Tutti i layer convoluzionali utilizzano lo zero padding per preservare le dimensioni spaziali.</a:t>
            </a:r>
            <a:endParaRPr/>
          </a:p>
          <a:p>
            <a:pPr indent="-342900" lvl="0" marL="457200" rtl="0" algn="just">
              <a:spcBef>
                <a:spcPts val="0"/>
              </a:spcBef>
              <a:spcAft>
                <a:spcPts val="0"/>
              </a:spcAft>
              <a:buSzPts val="1800"/>
              <a:buChar char="●"/>
            </a:pPr>
            <a:r>
              <a:rPr lang="en"/>
              <a:t>Nei blocchi residuali della CNN, se il numero di filtri del ramo principale differisce dai canali in ingresso, la skip connection utilizza una convoluzione 1x1 per allineare le dimensioni.</a:t>
            </a:r>
            <a:endParaRPr/>
          </a:p>
          <a:p>
            <a:pPr indent="-342900" lvl="0" marL="457200" rtl="0" algn="just">
              <a:spcBef>
                <a:spcPts val="0"/>
              </a:spcBef>
              <a:spcAft>
                <a:spcPts val="0"/>
              </a:spcAft>
              <a:buSzPts val="1800"/>
              <a:buChar char="●"/>
            </a:pPr>
            <a:r>
              <a:rPr lang="en"/>
              <a:t>Il numero di filtri usati nei blocchi residuali raddoppia in ogni stadio compensando la riduzione di risoluzione spaziale introdotta dal max pooling.</a:t>
            </a:r>
            <a:endParaRPr/>
          </a:p>
          <a:p>
            <a:pPr indent="-342900" lvl="0" marL="457200" rtl="0" algn="just">
              <a:spcBef>
                <a:spcPts val="0"/>
              </a:spcBef>
              <a:spcAft>
                <a:spcPts val="0"/>
              </a:spcAft>
              <a:buSzPts val="1800"/>
              <a:buChar char="●"/>
            </a:pPr>
            <a:r>
              <a:rPr lang="en"/>
              <a:t>Il batch normalization permette di accelerare la convergenza e stabilizzare l’addestramento, permettendo di usare learning rate più elevati.</a:t>
            </a:r>
            <a:endParaRPr/>
          </a:p>
          <a:p>
            <a:pPr indent="-342900" lvl="0" marL="457200" rtl="0" algn="just">
              <a:spcBef>
                <a:spcPts val="0"/>
              </a:spcBef>
              <a:spcAft>
                <a:spcPts val="0"/>
              </a:spcAft>
              <a:buSzPts val="1800"/>
              <a:buChar char="●"/>
            </a:pPr>
            <a:r>
              <a:rPr lang="en"/>
              <a:t>L’uso del dropout nel MLP permette di limitare l’overfitting senza penalizzare la capacità e impedisce ai neuroni di sviluppare una co-adattamento eccessivo.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idx="1" type="body"/>
          </p:nvPr>
        </p:nvSpPr>
        <p:spPr>
          <a:xfrm>
            <a:off x="311700" y="1152475"/>
            <a:ext cx="6207300" cy="3416400"/>
          </a:xfrm>
          <a:prstGeom prst="rect">
            <a:avLst/>
          </a:prstGeom>
        </p:spPr>
        <p:txBody>
          <a:bodyPr anchorCtr="0" anchor="t" bIns="91425" lIns="91425" spcFirstLastPara="1" rIns="91425" wrap="square" tIns="91425">
            <a:normAutofit fontScale="77500" lnSpcReduction="20000"/>
          </a:bodyPr>
          <a:lstStyle/>
          <a:p>
            <a:pPr indent="-317183" lvl="0" marL="457200" rtl="0" algn="just">
              <a:spcBef>
                <a:spcPts val="0"/>
              </a:spcBef>
              <a:spcAft>
                <a:spcPts val="0"/>
              </a:spcAft>
              <a:buSzPct val="100000"/>
              <a:buChar char="●"/>
            </a:pPr>
            <a:r>
              <a:rPr lang="en"/>
              <a:t>Il dataset viene suddiviso in training set (70%) e validation set (30%) con campionamento stratificato. Si costruiscono quindi i relativi dataset Keras, i quali suddividono i campioni in batch.</a:t>
            </a:r>
            <a:endParaRPr/>
          </a:p>
          <a:p>
            <a:pPr indent="-317183" lvl="0" marL="457200" rtl="0" algn="just">
              <a:spcBef>
                <a:spcPts val="0"/>
              </a:spcBef>
              <a:spcAft>
                <a:spcPts val="0"/>
              </a:spcAft>
              <a:buSzPct val="100000"/>
              <a:buChar char="●"/>
            </a:pPr>
            <a:r>
              <a:rPr lang="en"/>
              <a:t>Si utilizzano: Adam con learning rate pari a 1e-3 come ottimizzatore, categorical cross-entropy come funzione di </a:t>
            </a:r>
            <a:r>
              <a:rPr lang="en"/>
              <a:t>loss,</a:t>
            </a:r>
            <a:r>
              <a:rPr lang="en"/>
              <a:t> accuratezza come metrica di riferimento e 200 epoche di addestramento</a:t>
            </a:r>
            <a:r>
              <a:rPr lang="en"/>
              <a:t>.</a:t>
            </a:r>
            <a:endParaRPr/>
          </a:p>
          <a:p>
            <a:pPr indent="-317183" lvl="0" marL="457200" rtl="0" algn="just">
              <a:spcBef>
                <a:spcPts val="0"/>
              </a:spcBef>
              <a:spcAft>
                <a:spcPts val="0"/>
              </a:spcAft>
              <a:buSzPct val="100000"/>
              <a:buChar char="●"/>
            </a:pPr>
            <a:r>
              <a:rPr lang="en"/>
              <a:t>Per ogni immagine del training set ne viene generata un’altra tramite data augmentation.</a:t>
            </a:r>
            <a:endParaRPr/>
          </a:p>
          <a:p>
            <a:pPr indent="-317183" lvl="0" marL="457200" rtl="0" algn="just">
              <a:spcBef>
                <a:spcPts val="0"/>
              </a:spcBef>
              <a:spcAft>
                <a:spcPts val="0"/>
              </a:spcAft>
              <a:buSzPct val="100000"/>
              <a:buChar char="●"/>
            </a:pPr>
            <a:r>
              <a:rPr lang="en"/>
              <a:t>Viene utilizzato l’early stopping, il quale interrompe l’addestramento se la loss sul validation set non migliora per più di 10 epoche. Come mostra la figura in alto, questa tecnica ha limitato l’overfitting arrestando il training dopo 44 epoche.</a:t>
            </a:r>
            <a:endParaRPr/>
          </a:p>
          <a:p>
            <a:pPr indent="-317183" lvl="0" marL="457200" rtl="0" algn="just">
              <a:spcBef>
                <a:spcPts val="0"/>
              </a:spcBef>
              <a:spcAft>
                <a:spcPts val="0"/>
              </a:spcAft>
              <a:buSzPct val="100000"/>
              <a:buChar char="●"/>
            </a:pPr>
            <a:r>
              <a:rPr lang="en"/>
              <a:t>Un callback di Keras salva i pesi del modello corrispondenti alla minima loss sul validation set e non necessariamente quelli dell’ultima epoca.</a:t>
            </a:r>
            <a:endParaRPr/>
          </a:p>
        </p:txBody>
      </p:sp>
      <p:sp>
        <p:nvSpPr>
          <p:cNvPr id="89" name="Google Shape;89;p18"/>
          <p:cNvSpPr txBox="1"/>
          <p:nvPr>
            <p:ph type="title"/>
          </p:nvPr>
        </p:nvSpPr>
        <p:spPr>
          <a:xfrm>
            <a:off x="311700" y="445025"/>
            <a:ext cx="6383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Modulo B: </a:t>
            </a:r>
            <a:r>
              <a:rPr lang="en"/>
              <a:t>pre-training</a:t>
            </a:r>
            <a:endParaRPr/>
          </a:p>
          <a:p>
            <a:pPr indent="0" lvl="0" marL="0" rtl="0" algn="l">
              <a:spcBef>
                <a:spcPts val="0"/>
              </a:spcBef>
              <a:spcAft>
                <a:spcPts val="0"/>
              </a:spcAft>
              <a:buNone/>
            </a:pPr>
            <a:r>
              <a:t/>
            </a:r>
            <a:endParaRPr/>
          </a:p>
        </p:txBody>
      </p:sp>
      <p:pic>
        <p:nvPicPr>
          <p:cNvPr id="90" name="Google Shape;90;p18" title="aAAAAAAAAAAAA.png"/>
          <p:cNvPicPr preferRelativeResize="0"/>
          <p:nvPr/>
        </p:nvPicPr>
        <p:blipFill rotWithShape="1">
          <a:blip r:embed="rId3">
            <a:alphaModFix/>
          </a:blip>
          <a:srcRect b="4398" l="54196" r="1523" t="9698"/>
          <a:stretch/>
        </p:blipFill>
        <p:spPr>
          <a:xfrm>
            <a:off x="6600213" y="2571750"/>
            <a:ext cx="2462839" cy="2571751"/>
          </a:xfrm>
          <a:prstGeom prst="rect">
            <a:avLst/>
          </a:prstGeom>
          <a:noFill/>
          <a:ln>
            <a:noFill/>
          </a:ln>
        </p:spPr>
      </p:pic>
      <p:pic>
        <p:nvPicPr>
          <p:cNvPr id="91" name="Google Shape;91;p18" title="aAAAAAAAAAAAA.png"/>
          <p:cNvPicPr preferRelativeResize="0"/>
          <p:nvPr/>
        </p:nvPicPr>
        <p:blipFill rotWithShape="1">
          <a:blip r:embed="rId3">
            <a:alphaModFix/>
          </a:blip>
          <a:srcRect b="4398" l="5495" r="50224" t="9698"/>
          <a:stretch/>
        </p:blipFill>
        <p:spPr>
          <a:xfrm>
            <a:off x="6613725" y="0"/>
            <a:ext cx="2449325" cy="2557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Modulo C: </a:t>
            </a:r>
            <a:r>
              <a:rPr lang="en"/>
              <a:t>fine-tuning e del training da zero</a:t>
            </a:r>
            <a:endParaRPr/>
          </a:p>
          <a:p>
            <a:pPr indent="0" lvl="0" marL="0" rtl="0" algn="l">
              <a:spcBef>
                <a:spcPts val="0"/>
              </a:spcBef>
              <a:spcAft>
                <a:spcPts val="0"/>
              </a:spcAft>
              <a:buNone/>
            </a:pPr>
            <a:r>
              <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17183" lvl="0" marL="457200" rtl="0" algn="just">
              <a:spcBef>
                <a:spcPts val="0"/>
              </a:spcBef>
              <a:spcAft>
                <a:spcPts val="0"/>
              </a:spcAft>
              <a:buSzPct val="100000"/>
              <a:buChar char="●"/>
            </a:pPr>
            <a:r>
              <a:rPr lang="en"/>
              <a:t>Il dataset viene suddiviso in training set (70%), validation set (15%) e testing set (15%) con campionamento stratificato.</a:t>
            </a:r>
            <a:endParaRPr/>
          </a:p>
          <a:p>
            <a:pPr indent="-317183" lvl="0" marL="457200" rtl="0" algn="just">
              <a:spcBef>
                <a:spcPts val="0"/>
              </a:spcBef>
              <a:spcAft>
                <a:spcPts val="0"/>
              </a:spcAft>
              <a:buSzPct val="100000"/>
              <a:buChar char="●"/>
            </a:pPr>
            <a:r>
              <a:rPr lang="en"/>
              <a:t>Poiché il numero di classi del dataset di training è diverso da quello di pre-training, bisogna prima caricare i pesi del modello del pre-training e poi sostituire l’ultimo layer fully connected del MLP.</a:t>
            </a:r>
            <a:endParaRPr/>
          </a:p>
          <a:p>
            <a:pPr indent="-317183" lvl="0" marL="457200" rtl="0" algn="just">
              <a:spcBef>
                <a:spcPts val="0"/>
              </a:spcBef>
              <a:spcAft>
                <a:spcPts val="0"/>
              </a:spcAft>
              <a:buSzPct val="100000"/>
              <a:buChar char="●"/>
            </a:pPr>
            <a:r>
              <a:rPr lang="en"/>
              <a:t>Il fine-tuning è stato eseguito in tre configurazioni: head fine-tuning (solo layer fully connected addestrabili: 300,629 parametri), partial fine-tuning (layer a partire dal quarto stadio addestrabili: 826,837) e full fine-tuning (tutti i layer addestrabili: 997,077 parametri).</a:t>
            </a:r>
            <a:endParaRPr/>
          </a:p>
          <a:p>
            <a:pPr indent="-317183" lvl="0" marL="457200" rtl="0" algn="just">
              <a:spcBef>
                <a:spcPts val="0"/>
              </a:spcBef>
              <a:spcAft>
                <a:spcPts val="0"/>
              </a:spcAft>
              <a:buSzPct val="100000"/>
              <a:buChar char="●"/>
            </a:pPr>
            <a:r>
              <a:rPr lang="en"/>
              <a:t>Viene eseguito il training da zero usando la stessa architettura precedente (997,077 parametri addestrabili).</a:t>
            </a:r>
            <a:endParaRPr/>
          </a:p>
          <a:p>
            <a:pPr indent="-317183" lvl="0" marL="457200" rtl="0" algn="just">
              <a:spcBef>
                <a:spcPts val="0"/>
              </a:spcBef>
              <a:spcAft>
                <a:spcPts val="0"/>
              </a:spcAft>
              <a:buSzPct val="100000"/>
              <a:buChar char="●"/>
            </a:pPr>
            <a:r>
              <a:rPr lang="en"/>
              <a:t>Per ogni immagine del training set ne viene generata un’altra tramite data augmentation, aumentando la variabilità dei dati disponibili e favorendo una convergenza più rapida. Si è visto che fissare un numero più alto di immagini generate con data augmentation peggiora le performance sul validation set.</a:t>
            </a:r>
            <a:endParaRPr/>
          </a:p>
          <a:p>
            <a:pPr indent="-317183" lvl="0" marL="457200" rtl="0" algn="just">
              <a:spcBef>
                <a:spcPts val="0"/>
              </a:spcBef>
              <a:spcAft>
                <a:spcPts val="0"/>
              </a:spcAft>
              <a:buSzPct val="100000"/>
              <a:buChar char="●"/>
            </a:pPr>
            <a:r>
              <a:rPr lang="en"/>
              <a:t>Per il fine-tuning si utilizza un learning rate pari a 1e-4, mentre per il training da zero uno pari a 1e-3. Gli altri iper-parametri sono uguali a quelli usati in pre-training.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t>Modulo D: d</a:t>
            </a:r>
            <a:r>
              <a:rPr lang="en" sz="2320"/>
              <a:t>ata augmentation e lettura ottimizzata dei dataset</a:t>
            </a:r>
            <a:endParaRPr sz="2320"/>
          </a:p>
          <a:p>
            <a:pPr indent="0" lvl="0" marL="0" rtl="0" algn="l">
              <a:spcBef>
                <a:spcPts val="0"/>
              </a:spcBef>
              <a:spcAft>
                <a:spcPts val="0"/>
              </a:spcAft>
              <a:buSzPts val="990"/>
              <a:buNone/>
            </a:pPr>
            <a:r>
              <a:t/>
            </a:r>
            <a:endParaRPr sz="2320"/>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n"/>
              <a:t>Per aumentare la capacità di generalizzazione, durante il training viene sempre applicata la data augmentation mediante rotazioni casuali con ampiezza massima di ±10° e </a:t>
            </a:r>
            <a:r>
              <a:rPr lang="en"/>
              <a:t>capovolgimenti orizzontali o verticali</a:t>
            </a:r>
            <a:r>
              <a:rPr lang="en"/>
              <a:t>.</a:t>
            </a:r>
            <a:endParaRPr/>
          </a:p>
          <a:p>
            <a:pPr indent="-342900" lvl="0" marL="457200" rtl="0" algn="just">
              <a:spcBef>
                <a:spcPts val="0"/>
              </a:spcBef>
              <a:spcAft>
                <a:spcPts val="0"/>
              </a:spcAft>
              <a:buSzPts val="1800"/>
              <a:buChar char="●"/>
            </a:pPr>
            <a:r>
              <a:rPr lang="en"/>
              <a:t>Per garantire una partizione fissa tra training, validation e testing </a:t>
            </a:r>
            <a:r>
              <a:rPr lang="en"/>
              <a:t>senza caricare simultaneamente tutte le immagini in memoria</a:t>
            </a:r>
            <a:r>
              <a:rPr lang="en"/>
              <a:t>, viene creata una lista contenente i percorsi delle immagini e le relative etichette.</a:t>
            </a:r>
            <a:endParaRPr/>
          </a:p>
          <a:p>
            <a:pPr indent="-342900" lvl="0" marL="457200" rtl="0" algn="just">
              <a:spcBef>
                <a:spcPts val="0"/>
              </a:spcBef>
              <a:spcAft>
                <a:spcPts val="0"/>
              </a:spcAft>
              <a:buSzPts val="1800"/>
              <a:buChar char="●"/>
            </a:pPr>
            <a:r>
              <a:rPr lang="en"/>
              <a:t>Una classe dedicata fornisce tramite un generatore Python i campioni contenenti le singole immagini e le label associate. In questa fase vengono applicati pre-processing, data augmentation e codifica one-hot delle etichette.</a:t>
            </a:r>
            <a:endParaRPr/>
          </a:p>
          <a:p>
            <a:pPr indent="-342900" lvl="0" marL="457200" rtl="0" algn="just">
              <a:spcBef>
                <a:spcPts val="0"/>
              </a:spcBef>
              <a:spcAft>
                <a:spcPts val="0"/>
              </a:spcAft>
              <a:buSzPts val="1800"/>
              <a:buChar char="●"/>
            </a:pPr>
            <a:r>
              <a:rPr lang="en"/>
              <a:t>La classe </a:t>
            </a:r>
            <a:r>
              <a:rPr lang="en"/>
              <a:t>menzionata </a:t>
            </a:r>
            <a:r>
              <a:rPr lang="en"/>
              <a:t>sopra viene usata nei moduli B e C per costruire i dataset Keras, i quali permettono la suddivisione in batch da fornire alla rete neurale.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idx="1" type="body"/>
          </p:nvPr>
        </p:nvSpPr>
        <p:spPr>
          <a:xfrm>
            <a:off x="311700" y="1017725"/>
            <a:ext cx="8520600" cy="3573300"/>
          </a:xfrm>
          <a:prstGeom prst="rect">
            <a:avLst/>
          </a:prstGeom>
        </p:spPr>
        <p:txBody>
          <a:bodyPr anchorCtr="0" anchor="t" bIns="91425" lIns="91425" spcFirstLastPara="1" rIns="91425" wrap="square" tIns="91425">
            <a:normAutofit fontScale="70000" lnSpcReduction="10000"/>
          </a:bodyPr>
          <a:lstStyle/>
          <a:p>
            <a:pPr indent="0" lvl="0" marL="0" rtl="0" algn="just">
              <a:spcBef>
                <a:spcPts val="0"/>
              </a:spcBef>
              <a:spcAft>
                <a:spcPts val="0"/>
              </a:spcAft>
              <a:buNone/>
            </a:pPr>
            <a:r>
              <a:rPr lang="en"/>
              <a:t>Sul validation set sono state ottenute le seguenti prestazioni:</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t>Il fine-tuning del solo MLP si dimostra troppo limitante. In particolare, il backbone rimane ancorato alla distribuzione del dataset AID e lo spazio delle feature in ingresso al classificatore non viene ottimizzato.</a:t>
            </a:r>
            <a:endParaRPr/>
          </a:p>
          <a:p>
            <a:pPr indent="0" lvl="0" marL="0" rtl="0" algn="just">
              <a:spcBef>
                <a:spcPts val="1200"/>
              </a:spcBef>
              <a:spcAft>
                <a:spcPts val="0"/>
              </a:spcAft>
              <a:buNone/>
            </a:pPr>
            <a:r>
              <a:rPr lang="en"/>
              <a:t>Il fine-tuning parziale raggiunge prestazioni molto simili a quelle del modello allenato da zero, suggerendo che i layer congelati (stadi 1, 2 e 3) estraggono feature di basso livello già sufficientemente generali, mentre i layer profondi codificano feature semantiche specifiche del dominio.</a:t>
            </a:r>
            <a:endParaRPr/>
          </a:p>
          <a:p>
            <a:pPr indent="0" lvl="0" marL="0" rtl="0" algn="just">
              <a:spcBef>
                <a:spcPts val="1200"/>
              </a:spcBef>
              <a:spcAft>
                <a:spcPts val="0"/>
              </a:spcAft>
              <a:buNone/>
            </a:pPr>
            <a:r>
              <a:rPr lang="en"/>
              <a:t>La strategia più efficace risulta essere il fine-tuning completo, nella quale il training parte da pesi già significativi anziché da rumore casuale, evitando le forti fluttuazioni osservate nel modello addestrato da zero.</a:t>
            </a:r>
            <a:endParaRPr/>
          </a:p>
          <a:p>
            <a:pPr indent="0" lvl="0" marL="0" rtl="0" algn="just">
              <a:spcBef>
                <a:spcPts val="1200"/>
              </a:spcBef>
              <a:spcAft>
                <a:spcPts val="1200"/>
              </a:spcAft>
              <a:buNone/>
            </a:pPr>
            <a:r>
              <a:rPr lang="en"/>
              <a:t>Nella slide successiva si mostrano gli andamenti di loss e accuracy durante l’addestramento per il training set e per il validation set.</a:t>
            </a:r>
            <a:endParaRPr/>
          </a:p>
        </p:txBody>
      </p:sp>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Risultati </a:t>
            </a:r>
            <a:r>
              <a:rPr lang="en"/>
              <a:t>quantitativi</a:t>
            </a:r>
            <a:r>
              <a:rPr lang="en"/>
              <a:t> e modello selezionato</a:t>
            </a:r>
            <a:endParaRPr/>
          </a:p>
        </p:txBody>
      </p:sp>
      <p:graphicFrame>
        <p:nvGraphicFramePr>
          <p:cNvPr id="110" name="Google Shape;110;p21"/>
          <p:cNvGraphicFramePr/>
          <p:nvPr/>
        </p:nvGraphicFramePr>
        <p:xfrm>
          <a:off x="395000" y="1401975"/>
          <a:ext cx="3000000" cy="3000000"/>
        </p:xfrm>
        <a:graphic>
          <a:graphicData uri="http://schemas.openxmlformats.org/drawingml/2006/table">
            <a:tbl>
              <a:tblPr>
                <a:noFill/>
                <a:tableStyleId>{BA8DF622-62CD-4A15-923E-5C4DD602BB09}</a:tableStyleId>
              </a:tblPr>
              <a:tblGrid>
                <a:gridCol w="1670800"/>
                <a:gridCol w="1670800"/>
                <a:gridCol w="1670800"/>
                <a:gridCol w="1670800"/>
                <a:gridCol w="1670800"/>
              </a:tblGrid>
              <a:tr h="286350">
                <a:tc>
                  <a:txBody>
                    <a:bodyPr/>
                    <a:lstStyle/>
                    <a:p>
                      <a:pPr indent="0" lvl="0" marL="0" rtl="0" algn="ctr">
                        <a:spcBef>
                          <a:spcPts val="0"/>
                        </a:spcBef>
                        <a:spcAft>
                          <a:spcPts val="0"/>
                        </a:spcAft>
                        <a:buNone/>
                      </a:pPr>
                      <a:r>
                        <a:t/>
                      </a:r>
                      <a:endParaRPr b="1" sz="10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000">
                          <a:solidFill>
                            <a:schemeClr val="dk1"/>
                          </a:solidFill>
                        </a:rPr>
                        <a:t>Head </a:t>
                      </a:r>
                      <a:r>
                        <a:rPr b="1" lang="en" sz="1000"/>
                        <a:t>Fine-tuned</a:t>
                      </a:r>
                      <a:endParaRPr b="1" sz="10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000">
                          <a:solidFill>
                            <a:schemeClr val="dk1"/>
                          </a:solidFill>
                        </a:rPr>
                        <a:t>Partial </a:t>
                      </a:r>
                      <a:r>
                        <a:rPr b="1" lang="en" sz="1000"/>
                        <a:t>Fine-tuned</a:t>
                      </a:r>
                      <a:endParaRPr b="1" sz="10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000">
                          <a:solidFill>
                            <a:schemeClr val="dk1"/>
                          </a:solidFill>
                        </a:rPr>
                        <a:t>Full </a:t>
                      </a:r>
                      <a:r>
                        <a:rPr b="1" lang="en" sz="1000"/>
                        <a:t>Fine-tuned</a:t>
                      </a:r>
                      <a:endParaRPr b="1" sz="10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000"/>
                        <a:t>Trained from Zero</a:t>
                      </a:r>
                      <a:endParaRPr b="1" sz="1000"/>
                    </a:p>
                  </a:txBody>
                  <a:tcPr marT="91425" marB="91425" marR="91425" marL="91425" anchor="ctr">
                    <a:solidFill>
                      <a:srgbClr val="EEEEEE"/>
                    </a:solidFill>
                  </a:tcPr>
                </a:tc>
              </a:tr>
              <a:tr h="286350">
                <a:tc>
                  <a:txBody>
                    <a:bodyPr/>
                    <a:lstStyle/>
                    <a:p>
                      <a:pPr indent="0" lvl="0" marL="0" rtl="0" algn="ctr">
                        <a:spcBef>
                          <a:spcPts val="0"/>
                        </a:spcBef>
                        <a:spcAft>
                          <a:spcPts val="0"/>
                        </a:spcAft>
                        <a:buNone/>
                      </a:pPr>
                      <a:r>
                        <a:rPr b="1" lang="en" sz="1000">
                          <a:solidFill>
                            <a:schemeClr val="dk1"/>
                          </a:solidFill>
                        </a:rPr>
                        <a:t>F1-Score (macro)</a:t>
                      </a:r>
                      <a:endParaRPr b="1" sz="1000"/>
                    </a:p>
                  </a:txBody>
                  <a:tcPr marT="91425" marB="91425" marR="91425" marL="91425" anchor="ctr">
                    <a:solidFill>
                      <a:schemeClr val="lt2"/>
                    </a:solidFill>
                  </a:tcPr>
                </a:tc>
                <a:tc>
                  <a:txBody>
                    <a:bodyPr/>
                    <a:lstStyle/>
                    <a:p>
                      <a:pPr indent="0" lvl="0" marL="0" rtl="0" algn="ctr">
                        <a:spcBef>
                          <a:spcPts val="0"/>
                        </a:spcBef>
                        <a:spcAft>
                          <a:spcPts val="0"/>
                        </a:spcAft>
                        <a:buNone/>
                      </a:pPr>
                      <a:r>
                        <a:rPr lang="en" sz="1000"/>
                        <a:t>0.8</a:t>
                      </a:r>
                      <a:r>
                        <a:rPr lang="en" sz="1000"/>
                        <a:t>142</a:t>
                      </a:r>
                      <a:endParaRPr sz="1000"/>
                    </a:p>
                  </a:txBody>
                  <a:tcPr marT="91425" marB="91425" marR="91425" marL="91425" anchor="ctr"/>
                </a:tc>
                <a:tc>
                  <a:txBody>
                    <a:bodyPr/>
                    <a:lstStyle/>
                    <a:p>
                      <a:pPr indent="0" lvl="0" marL="0" rtl="0" algn="ctr">
                        <a:spcBef>
                          <a:spcPts val="0"/>
                        </a:spcBef>
                        <a:spcAft>
                          <a:spcPts val="0"/>
                        </a:spcAft>
                        <a:buNone/>
                      </a:pPr>
                      <a:r>
                        <a:rPr lang="en" sz="1000"/>
                        <a:t>0.8</a:t>
                      </a:r>
                      <a:r>
                        <a:rPr lang="en" sz="1000"/>
                        <a:t>868</a:t>
                      </a:r>
                      <a:endParaRPr sz="1000"/>
                    </a:p>
                  </a:txBody>
                  <a:tcPr marT="91425" marB="91425" marR="91425" marL="91425" anchor="ctr"/>
                </a:tc>
                <a:tc>
                  <a:txBody>
                    <a:bodyPr/>
                    <a:lstStyle/>
                    <a:p>
                      <a:pPr indent="0" lvl="0" marL="0" rtl="0" algn="ctr">
                        <a:spcBef>
                          <a:spcPts val="0"/>
                        </a:spcBef>
                        <a:spcAft>
                          <a:spcPts val="0"/>
                        </a:spcAft>
                        <a:buNone/>
                      </a:pPr>
                      <a:r>
                        <a:rPr lang="en" sz="1000"/>
                        <a:t>0.91</a:t>
                      </a:r>
                      <a:r>
                        <a:rPr lang="en" sz="1000"/>
                        <a:t>74</a:t>
                      </a:r>
                      <a:endParaRPr sz="1000"/>
                    </a:p>
                  </a:txBody>
                  <a:tcPr marT="91425" marB="91425" marR="91425" marL="91425" anchor="ctr">
                    <a:solidFill>
                      <a:srgbClr val="FFFF00"/>
                    </a:solidFill>
                  </a:tcPr>
                </a:tc>
                <a:tc>
                  <a:txBody>
                    <a:bodyPr/>
                    <a:lstStyle/>
                    <a:p>
                      <a:pPr indent="0" lvl="0" marL="0" rtl="0" algn="ctr">
                        <a:spcBef>
                          <a:spcPts val="0"/>
                        </a:spcBef>
                        <a:spcAft>
                          <a:spcPts val="0"/>
                        </a:spcAft>
                        <a:buNone/>
                      </a:pPr>
                      <a:r>
                        <a:rPr lang="en" sz="1000"/>
                        <a:t>0.8</a:t>
                      </a:r>
                      <a:r>
                        <a:rPr lang="en" sz="1000"/>
                        <a:t>832</a:t>
                      </a:r>
                      <a:endParaRPr sz="1000"/>
                    </a:p>
                  </a:txBody>
                  <a:tcPr marT="91425" marB="91425" marR="91425" marL="914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cxnSp>
        <p:nvCxnSpPr>
          <p:cNvPr id="115" name="Google Shape;115;p22"/>
          <p:cNvCxnSpPr/>
          <p:nvPr/>
        </p:nvCxnSpPr>
        <p:spPr>
          <a:xfrm>
            <a:off x="4571988" y="-131400"/>
            <a:ext cx="0" cy="5274900"/>
          </a:xfrm>
          <a:prstGeom prst="straightConnector1">
            <a:avLst/>
          </a:prstGeom>
          <a:noFill/>
          <a:ln cap="flat" cmpd="sng" w="9525">
            <a:solidFill>
              <a:schemeClr val="dk2"/>
            </a:solidFill>
            <a:prstDash val="solid"/>
            <a:round/>
            <a:headEnd len="med" w="med" type="none"/>
            <a:tailEnd len="med" w="med" type="none"/>
          </a:ln>
        </p:spPr>
      </p:cxnSp>
      <p:cxnSp>
        <p:nvCxnSpPr>
          <p:cNvPr id="116" name="Google Shape;116;p22"/>
          <p:cNvCxnSpPr/>
          <p:nvPr/>
        </p:nvCxnSpPr>
        <p:spPr>
          <a:xfrm rot="10800000">
            <a:off x="-124800" y="2576388"/>
            <a:ext cx="9393600" cy="0"/>
          </a:xfrm>
          <a:prstGeom prst="straightConnector1">
            <a:avLst/>
          </a:prstGeom>
          <a:noFill/>
          <a:ln cap="flat" cmpd="sng" w="9525">
            <a:solidFill>
              <a:schemeClr val="dk2"/>
            </a:solidFill>
            <a:prstDash val="solid"/>
            <a:round/>
            <a:headEnd len="med" w="med" type="none"/>
            <a:tailEnd len="med" w="med" type="none"/>
          </a:ln>
        </p:spPr>
      </p:cxnSp>
      <p:sp>
        <p:nvSpPr>
          <p:cNvPr id="117" name="Google Shape;117;p22"/>
          <p:cNvSpPr txBox="1"/>
          <p:nvPr/>
        </p:nvSpPr>
        <p:spPr>
          <a:xfrm>
            <a:off x="4" y="0"/>
            <a:ext cx="4572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Head Fine-tuned</a:t>
            </a:r>
            <a:endParaRPr sz="1800">
              <a:solidFill>
                <a:schemeClr val="dk2"/>
              </a:solidFill>
            </a:endParaRPr>
          </a:p>
        </p:txBody>
      </p:sp>
      <p:sp>
        <p:nvSpPr>
          <p:cNvPr id="118" name="Google Shape;118;p22"/>
          <p:cNvSpPr txBox="1"/>
          <p:nvPr/>
        </p:nvSpPr>
        <p:spPr>
          <a:xfrm>
            <a:off x="4572013" y="2576400"/>
            <a:ext cx="4572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Trained from Zero</a:t>
            </a:r>
            <a:endParaRPr b="1" sz="1200">
              <a:solidFill>
                <a:schemeClr val="dk1"/>
              </a:solidFill>
            </a:endParaRPr>
          </a:p>
        </p:txBody>
      </p:sp>
      <p:sp>
        <p:nvSpPr>
          <p:cNvPr id="119" name="Google Shape;119;p22"/>
          <p:cNvSpPr txBox="1"/>
          <p:nvPr/>
        </p:nvSpPr>
        <p:spPr>
          <a:xfrm>
            <a:off x="4571999" y="0"/>
            <a:ext cx="4572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Partial Fine-tuned</a:t>
            </a:r>
            <a:endParaRPr sz="1800">
              <a:solidFill>
                <a:schemeClr val="dk2"/>
              </a:solidFill>
            </a:endParaRPr>
          </a:p>
        </p:txBody>
      </p:sp>
      <p:sp>
        <p:nvSpPr>
          <p:cNvPr id="120" name="Google Shape;120;p22"/>
          <p:cNvSpPr txBox="1"/>
          <p:nvPr/>
        </p:nvSpPr>
        <p:spPr>
          <a:xfrm>
            <a:off x="4" y="2571750"/>
            <a:ext cx="4572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Full Fine-tuned</a:t>
            </a:r>
            <a:endParaRPr sz="1800">
              <a:solidFill>
                <a:schemeClr val="dk2"/>
              </a:solidFill>
            </a:endParaRPr>
          </a:p>
        </p:txBody>
      </p:sp>
      <p:pic>
        <p:nvPicPr>
          <p:cNvPr id="121" name="Google Shape;121;p22" title="Figure_1.png"/>
          <p:cNvPicPr preferRelativeResize="0"/>
          <p:nvPr/>
        </p:nvPicPr>
        <p:blipFill rotWithShape="1">
          <a:blip r:embed="rId3">
            <a:alphaModFix/>
          </a:blip>
          <a:srcRect b="0" l="3818" r="0" t="5749"/>
          <a:stretch/>
        </p:blipFill>
        <p:spPr>
          <a:xfrm>
            <a:off x="35175" y="366800"/>
            <a:ext cx="4397426" cy="2038399"/>
          </a:xfrm>
          <a:prstGeom prst="rect">
            <a:avLst/>
          </a:prstGeom>
          <a:noFill/>
          <a:ln>
            <a:noFill/>
          </a:ln>
        </p:spPr>
      </p:pic>
      <p:pic>
        <p:nvPicPr>
          <p:cNvPr id="122" name="Google Shape;122;p22" title="Figure_2.png"/>
          <p:cNvPicPr preferRelativeResize="0"/>
          <p:nvPr/>
        </p:nvPicPr>
        <p:blipFill rotWithShape="1">
          <a:blip r:embed="rId4">
            <a:alphaModFix/>
          </a:blip>
          <a:srcRect b="0" l="3587" r="0" t="5749"/>
          <a:stretch/>
        </p:blipFill>
        <p:spPr>
          <a:xfrm>
            <a:off x="4659288" y="369300"/>
            <a:ext cx="4397426" cy="2033400"/>
          </a:xfrm>
          <a:prstGeom prst="rect">
            <a:avLst/>
          </a:prstGeom>
          <a:noFill/>
          <a:ln>
            <a:noFill/>
          </a:ln>
        </p:spPr>
      </p:pic>
      <p:pic>
        <p:nvPicPr>
          <p:cNvPr id="123" name="Google Shape;123;p22" title="Figure_3.png"/>
          <p:cNvPicPr preferRelativeResize="0"/>
          <p:nvPr/>
        </p:nvPicPr>
        <p:blipFill rotWithShape="1">
          <a:blip r:embed="rId5">
            <a:alphaModFix/>
          </a:blip>
          <a:srcRect b="0" l="4471" r="0" t="5518"/>
          <a:stretch/>
        </p:blipFill>
        <p:spPr>
          <a:xfrm>
            <a:off x="107512" y="2938550"/>
            <a:ext cx="4356974" cy="2038399"/>
          </a:xfrm>
          <a:prstGeom prst="rect">
            <a:avLst/>
          </a:prstGeom>
          <a:noFill/>
          <a:ln>
            <a:noFill/>
          </a:ln>
        </p:spPr>
      </p:pic>
      <p:pic>
        <p:nvPicPr>
          <p:cNvPr id="124" name="Google Shape;124;p22" title="Figure_4.png"/>
          <p:cNvPicPr preferRelativeResize="0"/>
          <p:nvPr/>
        </p:nvPicPr>
        <p:blipFill rotWithShape="1">
          <a:blip r:embed="rId6">
            <a:alphaModFix/>
          </a:blip>
          <a:srcRect b="0" l="5096" r="0" t="5518"/>
          <a:stretch/>
        </p:blipFill>
        <p:spPr>
          <a:xfrm>
            <a:off x="4679525" y="2941050"/>
            <a:ext cx="4317901" cy="2033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idx="1" type="body"/>
          </p:nvPr>
        </p:nvSpPr>
        <p:spPr>
          <a:xfrm>
            <a:off x="311700" y="1017725"/>
            <a:ext cx="8520600" cy="35733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n"/>
              <a:t>In tutti i quattro casi l’early stopping interrompe l’addestramento prima dell’esecuzione delle 200 epoche. In particolare, si osserva che nei modelli fine-tuned il numero di epoche utilizzate aumenta al diminuire dei parametri addestrabili. Ciò accade a causa della minore capacità di assorbimento delle informazioni.</a:t>
            </a:r>
            <a:endParaRPr/>
          </a:p>
          <a:p>
            <a:pPr indent="-342900" lvl="0" marL="457200" rtl="0" algn="just">
              <a:spcBef>
                <a:spcPts val="0"/>
              </a:spcBef>
              <a:spcAft>
                <a:spcPts val="0"/>
              </a:spcAft>
              <a:buSzPts val="1800"/>
              <a:buChar char="●"/>
            </a:pPr>
            <a:r>
              <a:rPr lang="en"/>
              <a:t>In tutti i casi si osserva che, mentre la validation loss si stabilizza, la training loss continua a decrescere: tale comportamento è un chiaro sintomo di overfitting.</a:t>
            </a:r>
            <a:endParaRPr/>
          </a:p>
          <a:p>
            <a:pPr indent="-342900" lvl="0" marL="457200" rtl="0" algn="just">
              <a:spcBef>
                <a:spcPts val="0"/>
              </a:spcBef>
              <a:spcAft>
                <a:spcPts val="0"/>
              </a:spcAft>
              <a:buSzPts val="1800"/>
              <a:buChar char="●"/>
            </a:pPr>
            <a:r>
              <a:rPr lang="en"/>
              <a:t>La loss del modello addestrato da zero mostra marcate fluttuazioni sul validation set, evidenziando una minore stabilità in fase di apprendimento e confermando il contributo del pre-training adottato negli altri modelli. Tuttavia, l’addestramento necessita solo di 32 epoche grazie anche al training rate più elevato.</a:t>
            </a:r>
            <a:endParaRPr/>
          </a:p>
        </p:txBody>
      </p:sp>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Risultati quantitativi e modello selezionato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Risultati quantitativi e modello selezionato</a:t>
            </a:r>
            <a:endParaRPr/>
          </a:p>
          <a:p>
            <a:pPr indent="0" lvl="0" marL="0" rtl="0" algn="l">
              <a:spcBef>
                <a:spcPts val="0"/>
              </a:spcBef>
              <a:spcAft>
                <a:spcPts val="0"/>
              </a:spcAft>
              <a:buNone/>
            </a:pPr>
            <a:r>
              <a:t/>
            </a:r>
            <a:endParaRPr/>
          </a:p>
        </p:txBody>
      </p:sp>
      <p:sp>
        <p:nvSpPr>
          <p:cNvPr id="136" name="Google Shape;136;p24"/>
          <p:cNvSpPr txBox="1"/>
          <p:nvPr>
            <p:ph idx="1" type="body"/>
          </p:nvPr>
        </p:nvSpPr>
        <p:spPr>
          <a:xfrm>
            <a:off x="311700" y="1152475"/>
            <a:ext cx="4963800" cy="24330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t>Di fianco si trova la matrice di confusione relativa al modello migliore (full fine-tuned) sul test set, mentre in basso sono presenti le relative metriche rilevate.</a:t>
            </a:r>
            <a:endParaRPr/>
          </a:p>
          <a:p>
            <a:pPr indent="0" lvl="0" marL="0" rtl="0" algn="just">
              <a:spcBef>
                <a:spcPts val="1200"/>
              </a:spcBef>
              <a:spcAft>
                <a:spcPts val="1200"/>
              </a:spcAft>
              <a:buNone/>
            </a:pPr>
            <a:r>
              <a:rPr lang="en"/>
              <a:t>L’F1-Score mostra un miglioramento del 18% rispetto alla support vector machine utilizzata nell’Assignment 2.</a:t>
            </a:r>
            <a:endParaRPr/>
          </a:p>
        </p:txBody>
      </p:sp>
      <p:pic>
        <p:nvPicPr>
          <p:cNvPr id="137" name="Google Shape;137;p24" title="asasasasa.png"/>
          <p:cNvPicPr preferRelativeResize="0"/>
          <p:nvPr/>
        </p:nvPicPr>
        <p:blipFill rotWithShape="1">
          <a:blip r:embed="rId3">
            <a:alphaModFix/>
          </a:blip>
          <a:srcRect b="8760" l="41111" r="9601" t="1666"/>
          <a:stretch/>
        </p:blipFill>
        <p:spPr>
          <a:xfrm>
            <a:off x="5310350" y="1247650"/>
            <a:ext cx="3556800" cy="3057600"/>
          </a:xfrm>
          <a:prstGeom prst="rect">
            <a:avLst/>
          </a:prstGeom>
          <a:noFill/>
          <a:ln>
            <a:noFill/>
          </a:ln>
        </p:spPr>
      </p:pic>
      <p:graphicFrame>
        <p:nvGraphicFramePr>
          <p:cNvPr id="138" name="Google Shape;138;p24"/>
          <p:cNvGraphicFramePr/>
          <p:nvPr/>
        </p:nvGraphicFramePr>
        <p:xfrm>
          <a:off x="311700" y="3585475"/>
          <a:ext cx="3000000" cy="3000000"/>
        </p:xfrm>
        <a:graphic>
          <a:graphicData uri="http://schemas.openxmlformats.org/drawingml/2006/table">
            <a:tbl>
              <a:tblPr>
                <a:noFill/>
                <a:tableStyleId>{BA8DF622-62CD-4A15-923E-5C4DD602BB09}</a:tableStyleId>
              </a:tblPr>
              <a:tblGrid>
                <a:gridCol w="1432900"/>
                <a:gridCol w="1432900"/>
                <a:gridCol w="1432900"/>
                <a:gridCol w="1432900"/>
              </a:tblGrid>
              <a:tr h="363125">
                <a:tc>
                  <a:txBody>
                    <a:bodyPr/>
                    <a:lstStyle/>
                    <a:p>
                      <a:pPr indent="0" lvl="0" marL="0" rtl="0" algn="ctr">
                        <a:spcBef>
                          <a:spcPts val="0"/>
                        </a:spcBef>
                        <a:spcAft>
                          <a:spcPts val="0"/>
                        </a:spcAft>
                        <a:buNone/>
                      </a:pPr>
                      <a:r>
                        <a:rPr b="1" lang="en" sz="1100"/>
                        <a:t>Accuracy</a:t>
                      </a:r>
                      <a:endParaRPr b="1" sz="11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100"/>
                        <a:t>Precision (macro)</a:t>
                      </a:r>
                      <a:endParaRPr b="1" sz="11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100"/>
                        <a:t>Recall (macro)</a:t>
                      </a:r>
                      <a:endParaRPr b="1" sz="1100"/>
                    </a:p>
                  </a:txBody>
                  <a:tcPr marT="91425" marB="91425" marR="91425" marL="91425" anchor="ctr">
                    <a:solidFill>
                      <a:srgbClr val="EEEEEE"/>
                    </a:solidFill>
                  </a:tcPr>
                </a:tc>
                <a:tc>
                  <a:txBody>
                    <a:bodyPr/>
                    <a:lstStyle/>
                    <a:p>
                      <a:pPr indent="0" lvl="0" marL="0" rtl="0" algn="ctr">
                        <a:spcBef>
                          <a:spcPts val="0"/>
                        </a:spcBef>
                        <a:spcAft>
                          <a:spcPts val="0"/>
                        </a:spcAft>
                        <a:buNone/>
                      </a:pPr>
                      <a:r>
                        <a:rPr b="1" lang="en" sz="1100"/>
                        <a:t>F1-Score (macro)</a:t>
                      </a:r>
                      <a:endParaRPr b="1" sz="1100"/>
                    </a:p>
                  </a:txBody>
                  <a:tcPr marT="91425" marB="91425" marR="91425" marL="91425" anchor="ctr">
                    <a:solidFill>
                      <a:srgbClr val="EEEEEE"/>
                    </a:solidFill>
                  </a:tcPr>
                </a:tc>
              </a:tr>
              <a:tr h="356650">
                <a:tc>
                  <a:txBody>
                    <a:bodyPr/>
                    <a:lstStyle/>
                    <a:p>
                      <a:pPr indent="0" lvl="0" marL="0" rtl="0" algn="ctr">
                        <a:spcBef>
                          <a:spcPts val="0"/>
                        </a:spcBef>
                        <a:spcAft>
                          <a:spcPts val="0"/>
                        </a:spcAft>
                        <a:buNone/>
                      </a:pPr>
                      <a:r>
                        <a:rPr lang="en" sz="1100"/>
                        <a:t>0.9051</a:t>
                      </a:r>
                      <a:endParaRPr sz="1100"/>
                    </a:p>
                  </a:txBody>
                  <a:tcPr marT="91425" marB="91425" marR="91425" marL="91425" anchor="ctr"/>
                </a:tc>
                <a:tc>
                  <a:txBody>
                    <a:bodyPr/>
                    <a:lstStyle/>
                    <a:p>
                      <a:pPr indent="0" lvl="0" marL="0" rtl="0" algn="ctr">
                        <a:spcBef>
                          <a:spcPts val="0"/>
                        </a:spcBef>
                        <a:spcAft>
                          <a:spcPts val="0"/>
                        </a:spcAft>
                        <a:buNone/>
                      </a:pPr>
                      <a:r>
                        <a:rPr lang="en" sz="1100"/>
                        <a:t>0.9098</a:t>
                      </a:r>
                      <a:endParaRPr sz="1100"/>
                    </a:p>
                  </a:txBody>
                  <a:tcPr marT="91425" marB="91425" marR="91425" marL="91425" anchor="ctr"/>
                </a:tc>
                <a:tc>
                  <a:txBody>
                    <a:bodyPr/>
                    <a:lstStyle/>
                    <a:p>
                      <a:pPr indent="0" lvl="0" marL="0" rtl="0" algn="ctr">
                        <a:spcBef>
                          <a:spcPts val="0"/>
                        </a:spcBef>
                        <a:spcAft>
                          <a:spcPts val="0"/>
                        </a:spcAft>
                        <a:buNone/>
                      </a:pPr>
                      <a:r>
                        <a:rPr lang="en" sz="1100"/>
                        <a:t>0.9050</a:t>
                      </a:r>
                      <a:endParaRPr sz="1100"/>
                    </a:p>
                  </a:txBody>
                  <a:tcPr marT="91425" marB="91425" marR="91425" marL="91425" anchor="ctr"/>
                </a:tc>
                <a:tc>
                  <a:txBody>
                    <a:bodyPr/>
                    <a:lstStyle/>
                    <a:p>
                      <a:pPr indent="0" lvl="0" marL="0" rtl="0" algn="ctr">
                        <a:spcBef>
                          <a:spcPts val="0"/>
                        </a:spcBef>
                        <a:spcAft>
                          <a:spcPts val="0"/>
                        </a:spcAft>
                        <a:buNone/>
                      </a:pPr>
                      <a:r>
                        <a:rPr lang="en" sz="1100"/>
                        <a:t>0.9074</a:t>
                      </a:r>
                      <a:endParaRPr sz="1100"/>
                    </a:p>
                  </a:txBody>
                  <a:tcPr marT="91425" marB="91425" marR="91425" marL="91425"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2110825" y="445025"/>
            <a:ext cx="49224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Risultati qualitativi</a:t>
            </a:r>
            <a:endParaRPr/>
          </a:p>
          <a:p>
            <a:pPr indent="0" lvl="0" marL="0" rtl="0" algn="l">
              <a:spcBef>
                <a:spcPts val="0"/>
              </a:spcBef>
              <a:spcAft>
                <a:spcPts val="0"/>
              </a:spcAft>
              <a:buNone/>
            </a:pPr>
            <a:r>
              <a:t/>
            </a:r>
            <a:endParaRPr/>
          </a:p>
        </p:txBody>
      </p:sp>
      <p:sp>
        <p:nvSpPr>
          <p:cNvPr id="144" name="Google Shape;144;p25"/>
          <p:cNvSpPr txBox="1"/>
          <p:nvPr>
            <p:ph idx="1" type="body"/>
          </p:nvPr>
        </p:nvSpPr>
        <p:spPr>
          <a:xfrm>
            <a:off x="2110825" y="1152475"/>
            <a:ext cx="4922400" cy="3573600"/>
          </a:xfrm>
          <a:prstGeom prst="rect">
            <a:avLst/>
          </a:prstGeom>
        </p:spPr>
        <p:txBody>
          <a:bodyPr anchorCtr="0" anchor="t" bIns="91425" lIns="91425" spcFirstLastPara="1" rIns="91425" wrap="square" tIns="91425">
            <a:normAutofit fontScale="62500" lnSpcReduction="20000"/>
          </a:bodyPr>
          <a:lstStyle/>
          <a:p>
            <a:pPr indent="0" lvl="0" marL="0" rtl="0" algn="just">
              <a:spcBef>
                <a:spcPts val="0"/>
              </a:spcBef>
              <a:spcAft>
                <a:spcPts val="0"/>
              </a:spcAft>
              <a:buNone/>
            </a:pPr>
            <a:r>
              <a:rPr lang="en"/>
              <a:t>È interessante notare che gli errori di classificazione sono più comuni nel caso di classi semanticamente simili. Ad esempio, la misclassificazione tra </a:t>
            </a:r>
            <a:r>
              <a:rPr i="1" lang="en"/>
              <a:t>mediumresidential</a:t>
            </a:r>
            <a:r>
              <a:rPr lang="en"/>
              <a:t> e </a:t>
            </a:r>
            <a:r>
              <a:rPr i="1" lang="en"/>
              <a:t>denseresidential</a:t>
            </a:r>
            <a:r>
              <a:rPr lang="en"/>
              <a:t> è una delle più comuni. Ne è un esempio l’immagine </a:t>
            </a:r>
            <a:r>
              <a:rPr lang="en"/>
              <a:t>del test set </a:t>
            </a:r>
            <a:r>
              <a:rPr lang="en"/>
              <a:t>in alto a sinistra, la cui classe reale è </a:t>
            </a:r>
            <a:r>
              <a:rPr i="1" lang="en"/>
              <a:t>mediumresidential</a:t>
            </a:r>
            <a:r>
              <a:rPr lang="en"/>
              <a:t>.</a:t>
            </a:r>
            <a:endParaRPr/>
          </a:p>
          <a:p>
            <a:pPr indent="0" lvl="0" marL="0" rtl="0" algn="just">
              <a:spcBef>
                <a:spcPts val="1200"/>
              </a:spcBef>
              <a:spcAft>
                <a:spcPts val="0"/>
              </a:spcAft>
              <a:buNone/>
            </a:pPr>
            <a:r>
              <a:rPr lang="en"/>
              <a:t>Casi come quello della figura in alto a destra risultano essere intrinsecamente complessi perché composti da più elementi differenti. In questo caso, la classe reale dell’immagine è </a:t>
            </a:r>
            <a:r>
              <a:rPr i="1" lang="en"/>
              <a:t>tenniscourt</a:t>
            </a:r>
            <a:r>
              <a:rPr lang="en"/>
              <a:t>, ma l’etichetta predetta è </a:t>
            </a:r>
            <a:r>
              <a:rPr i="1" lang="en"/>
              <a:t>denseresidential</a:t>
            </a:r>
            <a:r>
              <a:rPr lang="en"/>
              <a:t> con una probabilità del 57%. Seguono le classi </a:t>
            </a:r>
            <a:r>
              <a:rPr i="1" lang="en"/>
              <a:t>mediumresidential</a:t>
            </a:r>
            <a:r>
              <a:rPr lang="en"/>
              <a:t> (12%), </a:t>
            </a:r>
            <a:r>
              <a:rPr i="1" lang="en"/>
              <a:t>intersection</a:t>
            </a:r>
            <a:r>
              <a:rPr lang="en"/>
              <a:t> (7%), </a:t>
            </a:r>
            <a:r>
              <a:rPr i="1" lang="en"/>
              <a:t>buildings</a:t>
            </a:r>
            <a:r>
              <a:rPr lang="en"/>
              <a:t> (6%) e </a:t>
            </a:r>
            <a:r>
              <a:rPr i="1" lang="en"/>
              <a:t>tenniscourt</a:t>
            </a:r>
            <a:r>
              <a:rPr lang="en"/>
              <a:t> (5%).</a:t>
            </a:r>
            <a:endParaRPr/>
          </a:p>
          <a:p>
            <a:pPr indent="0" lvl="0" marL="0" rtl="0" algn="just">
              <a:spcBef>
                <a:spcPts val="1200"/>
              </a:spcBef>
              <a:spcAft>
                <a:spcPts val="0"/>
              </a:spcAft>
              <a:buNone/>
            </a:pPr>
            <a:r>
              <a:rPr lang="en"/>
              <a:t>Invece, l’immagine in basso a sinistra viene classificata correttamente come </a:t>
            </a:r>
            <a:r>
              <a:rPr i="1" lang="en"/>
              <a:t>tenniscourt </a:t>
            </a:r>
            <a:r>
              <a:rPr lang="en"/>
              <a:t>con una probabilità pari all’80% nonostante siano presenti molti elementi di disturbo.</a:t>
            </a:r>
            <a:endParaRPr/>
          </a:p>
          <a:p>
            <a:pPr indent="0" lvl="0" marL="0" rtl="0" algn="just">
              <a:spcBef>
                <a:spcPts val="1200"/>
              </a:spcBef>
              <a:spcAft>
                <a:spcPts val="1200"/>
              </a:spcAft>
              <a:buNone/>
            </a:pPr>
            <a:r>
              <a:rPr lang="en"/>
              <a:t>Analogamente, l’immagine in basso a destra viene classificata correttamente come </a:t>
            </a:r>
            <a:r>
              <a:rPr i="1" lang="en"/>
              <a:t>intersection</a:t>
            </a:r>
            <a:r>
              <a:rPr lang="en"/>
              <a:t> con una probabilità pari al 99%, tuttavia quest’ultima faceva parte del training set. La presenza del campo da tennis fa sorgere dei dubbi sul sovradattamento.</a:t>
            </a:r>
            <a:endParaRPr/>
          </a:p>
        </p:txBody>
      </p:sp>
      <p:pic>
        <p:nvPicPr>
          <p:cNvPr id="145" name="Google Shape;145;p25"/>
          <p:cNvPicPr preferRelativeResize="0"/>
          <p:nvPr/>
        </p:nvPicPr>
        <p:blipFill>
          <a:blip r:embed="rId3">
            <a:alphaModFix/>
          </a:blip>
          <a:stretch>
            <a:fillRect/>
          </a:stretch>
        </p:blipFill>
        <p:spPr>
          <a:xfrm>
            <a:off x="7033175" y="0"/>
            <a:ext cx="2110825" cy="2110825"/>
          </a:xfrm>
          <a:prstGeom prst="rect">
            <a:avLst/>
          </a:prstGeom>
          <a:noFill/>
          <a:ln>
            <a:noFill/>
          </a:ln>
        </p:spPr>
      </p:pic>
      <p:pic>
        <p:nvPicPr>
          <p:cNvPr id="146" name="Google Shape;146;p25"/>
          <p:cNvPicPr preferRelativeResize="0"/>
          <p:nvPr/>
        </p:nvPicPr>
        <p:blipFill>
          <a:blip r:embed="rId4">
            <a:alphaModFix/>
          </a:blip>
          <a:stretch>
            <a:fillRect/>
          </a:stretch>
        </p:blipFill>
        <p:spPr>
          <a:xfrm>
            <a:off x="7033175" y="3032675"/>
            <a:ext cx="2110825" cy="2110825"/>
          </a:xfrm>
          <a:prstGeom prst="rect">
            <a:avLst/>
          </a:prstGeom>
          <a:noFill/>
          <a:ln>
            <a:noFill/>
          </a:ln>
        </p:spPr>
      </p:pic>
      <p:pic>
        <p:nvPicPr>
          <p:cNvPr id="147" name="Google Shape;147;p25" title="mediumresidential09.jpg"/>
          <p:cNvPicPr preferRelativeResize="0"/>
          <p:nvPr/>
        </p:nvPicPr>
        <p:blipFill>
          <a:blip r:embed="rId5">
            <a:alphaModFix/>
          </a:blip>
          <a:stretch>
            <a:fillRect/>
          </a:stretch>
        </p:blipFill>
        <p:spPr>
          <a:xfrm>
            <a:off x="0" y="0"/>
            <a:ext cx="2110825" cy="2110825"/>
          </a:xfrm>
          <a:prstGeom prst="rect">
            <a:avLst/>
          </a:prstGeom>
          <a:noFill/>
          <a:ln>
            <a:noFill/>
          </a:ln>
        </p:spPr>
      </p:pic>
      <p:pic>
        <p:nvPicPr>
          <p:cNvPr id="148" name="Google Shape;148;p25" title="tenniscourt46.jpg"/>
          <p:cNvPicPr preferRelativeResize="0"/>
          <p:nvPr/>
        </p:nvPicPr>
        <p:blipFill>
          <a:blip r:embed="rId6">
            <a:alphaModFix/>
          </a:blip>
          <a:stretch>
            <a:fillRect/>
          </a:stretch>
        </p:blipFill>
        <p:spPr>
          <a:xfrm>
            <a:off x="0" y="3032675"/>
            <a:ext cx="2110825" cy="2110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just">
              <a:spcBef>
                <a:spcPts val="0"/>
              </a:spcBef>
              <a:spcAft>
                <a:spcPts val="0"/>
              </a:spcAft>
              <a:buSzPct val="100000"/>
              <a:buChar char="●"/>
            </a:pPr>
            <a:r>
              <a:rPr lang="en"/>
              <a:t>Poiché il dataset </a:t>
            </a:r>
            <a:r>
              <a:rPr lang="en"/>
              <a:t>UC Merced Land Use</a:t>
            </a:r>
            <a:r>
              <a:rPr lang="en"/>
              <a:t> contiene solamente 2100 immagini, lo split fisso tra training, validation e testing  espone al rischio di valutazioni influenzate dal caso. Invece, la K-Fold Cross Validation potrebbe fornire stime di performance più robuste.</a:t>
            </a:r>
            <a:endParaRPr/>
          </a:p>
          <a:p>
            <a:pPr indent="-325755" lvl="0" marL="457200" rtl="0" algn="just">
              <a:spcBef>
                <a:spcPts val="0"/>
              </a:spcBef>
              <a:spcAft>
                <a:spcPts val="0"/>
              </a:spcAft>
              <a:buSzPct val="100000"/>
              <a:buChar char="●"/>
            </a:pPr>
            <a:r>
              <a:rPr lang="en"/>
              <a:t>Le classi presenti nel dataset sono bilanciate, ma in un utilizzo reale del sistema alcune categorie potrebbero essere più comuni di altre. Un miglioramento possibile che non influisce sul training sarebbe quello di moltiplicare le probabilità ottenute dalla rete neurale per dei prior.</a:t>
            </a:r>
            <a:endParaRPr/>
          </a:p>
          <a:p>
            <a:pPr indent="-325755" lvl="0" marL="457200" rtl="0" algn="just">
              <a:spcBef>
                <a:spcPts val="0"/>
              </a:spcBef>
              <a:spcAft>
                <a:spcPts val="0"/>
              </a:spcAft>
              <a:buSzPct val="100000"/>
              <a:buChar char="●"/>
            </a:pPr>
            <a:r>
              <a:rPr lang="en"/>
              <a:t>Gli iper-parametri che determinano l’architettura della rete sono stati scelti empiricamente, ma si potrebbe usare la libreria KerasTuner per ottimizzarli automaticamente.</a:t>
            </a:r>
            <a:endParaRPr/>
          </a:p>
          <a:p>
            <a:pPr indent="-325755" lvl="0" marL="457200" rtl="0" algn="just">
              <a:spcBef>
                <a:spcPts val="0"/>
              </a:spcBef>
              <a:spcAft>
                <a:spcPts val="0"/>
              </a:spcAft>
              <a:buSzPct val="100000"/>
              <a:buChar char="●"/>
            </a:pPr>
            <a:r>
              <a:rPr lang="en"/>
              <a:t>La classificazione multi-classe forza il modello a scegliere un'unica etichetta, ignorando il fatto che un'immagine aerea contiene spesso più elementi. Questo crea ambiguità sia per il modello in fase di addestramento, sia nella valutazione dei casi d'errore. Ne è un esempio l’immagine riportata in basso a destra nella slide precedente. Una possibile soluzione consiste nell’utilizzo di un dataset in cui a ogni immagine sono associate più classi.</a:t>
            </a:r>
            <a:endParaRPr/>
          </a:p>
        </p:txBody>
      </p:sp>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t>
            </a:r>
            <a:r>
              <a:rPr lang="en"/>
              <a:t>ossibili miglioramenti del sistema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Sitografia e tool utilizzati</a:t>
            </a:r>
            <a:endParaRPr/>
          </a:p>
        </p:txBody>
      </p:sp>
      <p:sp>
        <p:nvSpPr>
          <p:cNvPr id="160" name="Google Shape;16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8" lvl="0" marL="457200" rtl="0" algn="just">
              <a:spcBef>
                <a:spcPts val="0"/>
              </a:spcBef>
              <a:spcAft>
                <a:spcPts val="0"/>
              </a:spcAft>
              <a:buSzPct val="100000"/>
              <a:buChar char="●"/>
            </a:pPr>
            <a:r>
              <a:rPr lang="en"/>
              <a:t>Documentazione TensorFlow: </a:t>
            </a:r>
            <a:r>
              <a:rPr lang="en" u="sng">
                <a:solidFill>
                  <a:schemeClr val="hlink"/>
                </a:solidFill>
                <a:hlinkClick r:id="rId3"/>
              </a:rPr>
              <a:t>Dataset.from_generator</a:t>
            </a:r>
            <a:r>
              <a:rPr lang="en"/>
              <a:t>.</a:t>
            </a:r>
            <a:endParaRPr/>
          </a:p>
          <a:p>
            <a:pPr indent="-334328" lvl="0" marL="457200" rtl="0" algn="just">
              <a:spcBef>
                <a:spcPts val="0"/>
              </a:spcBef>
              <a:spcAft>
                <a:spcPts val="0"/>
              </a:spcAft>
              <a:buSzPct val="100000"/>
              <a:buChar char="●"/>
            </a:pPr>
            <a:r>
              <a:rPr lang="en"/>
              <a:t>Documentazione Keras: </a:t>
            </a:r>
            <a:r>
              <a:rPr lang="en" u="sng">
                <a:solidFill>
                  <a:schemeClr val="hlink"/>
                </a:solidFill>
                <a:hlinkClick r:id="rId4"/>
              </a:rPr>
              <a:t>MaxPooling2D</a:t>
            </a:r>
            <a:r>
              <a:rPr lang="en"/>
              <a:t>, </a:t>
            </a:r>
            <a:r>
              <a:rPr lang="en" u="sng">
                <a:solidFill>
                  <a:schemeClr val="hlink"/>
                </a:solidFill>
                <a:hlinkClick r:id="rId5"/>
              </a:rPr>
              <a:t>ModelCheckpoint</a:t>
            </a:r>
            <a:r>
              <a:rPr lang="en"/>
              <a:t>, eccetera.</a:t>
            </a:r>
            <a:endParaRPr/>
          </a:p>
          <a:p>
            <a:pPr indent="-334328" lvl="0" marL="457200" rtl="0" algn="just">
              <a:spcBef>
                <a:spcPts val="0"/>
              </a:spcBef>
              <a:spcAft>
                <a:spcPts val="0"/>
              </a:spcAft>
              <a:buSzPct val="100000"/>
              <a:buChar char="●"/>
            </a:pPr>
            <a:r>
              <a:rPr lang="en"/>
              <a:t>Gemini: </a:t>
            </a:r>
            <a:r>
              <a:rPr lang="en" u="sng">
                <a:solidFill>
                  <a:schemeClr val="hlink"/>
                </a:solidFill>
                <a:hlinkClick r:id="rId6"/>
              </a:rPr>
              <a:t>Keras Convolutional Layer Order</a:t>
            </a:r>
            <a:r>
              <a:rPr lang="en"/>
              <a:t>.</a:t>
            </a:r>
            <a:endParaRPr/>
          </a:p>
          <a:p>
            <a:pPr indent="-334328" lvl="0" marL="457200" rtl="0" algn="just">
              <a:spcBef>
                <a:spcPts val="0"/>
              </a:spcBef>
              <a:spcAft>
                <a:spcPts val="0"/>
              </a:spcAft>
              <a:buSzPct val="100000"/>
              <a:buChar char="●"/>
            </a:pPr>
            <a:r>
              <a:rPr lang="en"/>
              <a:t>ChatGPT: </a:t>
            </a:r>
            <a:r>
              <a:rPr lang="en" u="sng">
                <a:solidFill>
                  <a:schemeClr val="hlink"/>
                </a:solidFill>
                <a:hlinkClick r:id="rId7"/>
              </a:rPr>
              <a:t>Neural Network Diagram</a:t>
            </a:r>
            <a:r>
              <a:rPr lang="en"/>
              <a:t> per una figura </a:t>
            </a:r>
            <a:r>
              <a:rPr lang="en"/>
              <a:t>opportunamente corretta</a:t>
            </a:r>
            <a:r>
              <a:rPr lang="en"/>
              <a:t> presente in una slide.</a:t>
            </a:r>
            <a:endParaRPr/>
          </a:p>
          <a:p>
            <a:pPr indent="-334328" lvl="0" marL="457200" rtl="0" algn="just">
              <a:spcBef>
                <a:spcPts val="0"/>
              </a:spcBef>
              <a:spcAft>
                <a:spcPts val="0"/>
              </a:spcAft>
              <a:buSzPct val="100000"/>
              <a:buChar char="●"/>
            </a:pPr>
            <a:r>
              <a:rPr lang="en"/>
              <a:t>GPT-5.2-Codex: </a:t>
            </a:r>
            <a:r>
              <a:rPr lang="en"/>
              <a:t> per l’implementazione iniziale delle funzioni </a:t>
            </a:r>
            <a:r>
              <a:rPr i="1" lang="en"/>
              <a:t>augment_image()</a:t>
            </a:r>
            <a:r>
              <a:rPr lang="en"/>
              <a:t>,</a:t>
            </a:r>
            <a:r>
              <a:rPr lang="en"/>
              <a:t> per la scrittura del file </a:t>
            </a:r>
            <a:r>
              <a:rPr i="1" lang="en" u="sng">
                <a:solidFill>
                  <a:schemeClr val="hlink"/>
                </a:solidFill>
                <a:hlinkClick r:id="rId8"/>
              </a:rPr>
              <a:t>README.md</a:t>
            </a:r>
            <a:r>
              <a:rPr lang="en"/>
              <a:t> e</a:t>
            </a:r>
            <a:r>
              <a:rPr lang="en"/>
              <a:t> </a:t>
            </a:r>
            <a:r>
              <a:rPr lang="en"/>
              <a:t>per l’implementazione delle funzioni </a:t>
            </a:r>
            <a:r>
              <a:rPr i="1" lang="en"/>
              <a:t>parse_args()</a:t>
            </a:r>
            <a:r>
              <a:rPr lang="en"/>
              <a:t> e </a:t>
            </a:r>
            <a:r>
              <a:rPr i="1" lang="en"/>
              <a:t>show_training_history_over_epochs()</a:t>
            </a:r>
            <a:r>
              <a:rPr lang="en"/>
              <a:t>.</a:t>
            </a:r>
            <a:endParaRPr/>
          </a:p>
          <a:p>
            <a:pPr indent="-334328" lvl="0" marL="457200" rtl="0" algn="just">
              <a:spcBef>
                <a:spcPts val="0"/>
              </a:spcBef>
              <a:spcAft>
                <a:spcPts val="0"/>
              </a:spcAft>
              <a:buSzPct val="100000"/>
              <a:buChar char="●"/>
            </a:pPr>
            <a:r>
              <a:rPr lang="en"/>
              <a:t>Autocompletamento del codice in Visual Studio Code.</a:t>
            </a:r>
            <a:endParaRPr/>
          </a:p>
          <a:p>
            <a:pPr indent="-334328" lvl="0" marL="457200" rtl="0" algn="just">
              <a:spcBef>
                <a:spcPts val="0"/>
              </a:spcBef>
              <a:spcAft>
                <a:spcPts val="0"/>
              </a:spcAft>
              <a:buSzPct val="100000"/>
              <a:buChar char="●"/>
            </a:pPr>
            <a:r>
              <a:rPr lang="en"/>
              <a:t>Risorse varie: </a:t>
            </a:r>
            <a:r>
              <a:rPr lang="en" u="sng">
                <a:solidFill>
                  <a:schemeClr val="hlink"/>
                </a:solidFill>
                <a:hlinkClick r:id="rId9"/>
              </a:rPr>
              <a:t>Keras Callbacks and How to Save Your Model from Overtraining</a:t>
            </a:r>
            <a:r>
              <a:rPr lang="en"/>
              <a:t>, </a:t>
            </a:r>
            <a:r>
              <a:rPr lang="en" u="sng">
                <a:solidFill>
                  <a:schemeClr val="hlink"/>
                </a:solidFill>
                <a:hlinkClick r:id="rId10"/>
              </a:rPr>
              <a:t>Understanding Dropout in Deep Learning: A Guide to Reducing Overfitting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